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and thank you for the time.</a:t>
            </a:r>
          </a:p>
          <a:p/>
          <a:p>
            <a:r>
              <a:t>For the next half hour I want to show you what Dédalo is and, more importantly, what it</a:t>
            </a:r>
          </a:p>
          <a:p>
            <a:r>
              <a:t>is FOR. There is almost no technology in this talk. Nearly everything I am going to say is</a:t>
            </a:r>
          </a:p>
          <a:p>
            <a:r>
              <a:t>about how a catalogue behaves over twenty years, because that is the real problem in our</a:t>
            </a:r>
          </a:p>
          <a:p>
            <a:r>
              <a:t>field — not storing records, but keeping them coherent, correct and usable long after the</a:t>
            </a:r>
          </a:p>
          <a:p>
            <a:r>
              <a:t>people who made them have moved on.</a:t>
            </a:r>
          </a:p>
          <a:p/>
          <a:p>
            <a:r>
              <a:t>Three things up front. Dédalo is free and open source: there is no licence to buy and no</a:t>
            </a:r>
          </a:p>
          <a:p>
            <a:r>
              <a:t>seat to pay for. It has been in production in real institutions for over twenty years —</a:t>
            </a:r>
          </a:p>
          <a:p>
            <a:r>
              <a:t>archives, museums, oral memory projects, archaeology, numismatics. And its engine was</a:t>
            </a:r>
          </a:p>
          <a:p>
            <a:r>
              <a:t>rebuilt from scratch recently, so what I am showing you is a mature idea on new</a:t>
            </a:r>
          </a:p>
          <a:p>
            <a:r>
              <a:t>foundations.</a:t>
            </a:r>
          </a:p>
          <a:p/>
          <a:p>
            <a:r>
              <a:t>Please interrupt with questions whenever you like. It works better as 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start with a true story, because it is the shape of the whole problem.</a:t>
            </a:r>
          </a:p>
          <a:p/>
          <a:p>
            <a:r>
              <a:t>An oral history archive holds ten thousand interviews about life in a rural valley. A</a:t>
            </a:r>
          </a:p>
          <a:p>
            <a:r>
              <a:t>researcher wants every testimony that touches on people displaced when the reservoir was</a:t>
            </a:r>
          </a:p>
          <a:p>
            <a:r>
              <a:t>built. She types "reservoir" into the search box. She gets the handful of interviews where</a:t>
            </a:r>
          </a:p>
          <a:p>
            <a:r>
              <a:t>somebody happened to use that word.</a:t>
            </a:r>
          </a:p>
          <a:p/>
          <a:p>
            <a:r>
              <a:t>She misses the ones that say "when the water came", "they flooded our houses", "el</a:t>
            </a:r>
          </a:p>
          <a:p>
            <a:r>
              <a:t>pantano", "when they made us leave". Dozens of them. The knowledge is IN the archive. The</a:t>
            </a:r>
          </a:p>
          <a:p>
            <a:r>
              <a:t>search cannot reach it, because a classic search matches strings of letters, not meaning.</a:t>
            </a:r>
          </a:p>
          <a:p/>
          <a:p>
            <a:r>
              <a:t>That gap — between what an archive knows and what it can be asked — is what a good heritage</a:t>
            </a:r>
          </a:p>
          <a:p>
            <a:r>
              <a:t>system should be closing. Keep that sentence in mind: we come back to it at the very end,</a:t>
            </a:r>
          </a:p>
          <a:p>
            <a:r>
              <a:t>and I will show you what Dédalo does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So, in one sentence: Dédalo is a system for managing cultural heritage that is built to</a:t>
            </a:r>
          </a:p>
          <a:p>
            <a:r>
              <a:t>produce good data.</a:t>
            </a:r>
          </a:p>
          <a:p/>
          <a:p>
            <a:r>
              <a:t>That last phrase is deliberate. Plenty of software will store what you type. Very little of</a:t>
            </a:r>
          </a:p>
          <a:p>
            <a:r>
              <a:t>it is designed around the question "will this still be coherent, correct and reusable in</a:t>
            </a:r>
          </a:p>
          <a:p>
            <a:r>
              <a:t>twenty years?" That is the question Dédalo is organised around.</a:t>
            </a:r>
          </a:p>
          <a:p/>
          <a:p>
            <a:r>
              <a:t>Four things worth knowing. It is free and open source — no licence, no per-seat fee, and</a:t>
            </a:r>
          </a:p>
          <a:p>
            <a:r>
              <a:t>crucially no lock-in: your data is in an open database on a machine you control. It is not</a:t>
            </a:r>
          </a:p>
          <a:p>
            <a:r>
              <a:t>built for one discipline; the same system runs an oral memory archive, a coin cabinet and</a:t>
            </a:r>
          </a:p>
          <a:p>
            <a:r>
              <a:t>an archaeological inventory, and I will explain in a moment how that is possible without it</a:t>
            </a:r>
          </a:p>
          <a:p>
            <a:r>
              <a:t>becoming a generic mush.</a:t>
            </a:r>
          </a:p>
          <a:p/>
          <a:p>
            <a:r>
              <a:t>It has been in production for two decades, developed with institutions rather than pitched</a:t>
            </a:r>
          </a:p>
          <a:p>
            <a:r>
              <a:t>at them. And its engine was recently rebuilt from the ground up — so the model is mature,</a:t>
            </a:r>
          </a:p>
          <a:p>
            <a:r>
              <a:t>and the foundation is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misunderstanding I meet is that Dédalo is a kind of website manager for</a:t>
            </a:r>
          </a:p>
          <a:p>
            <a:r>
              <a:t>museums. It is worth clearing that up early, because it changes what you should expect</a:t>
            </a:r>
          </a:p>
          <a:p>
            <a:r>
              <a:t>from it.</a:t>
            </a:r>
          </a:p>
          <a:p/>
          <a:p>
            <a:r>
              <a:t>A content manager — WordPress and its cousins — helps you publish pages. The page is the</a:t>
            </a:r>
          </a:p>
          <a:p>
            <a:r>
              <a:t>point. The data exists to fill the page, and it usually lives inside the page: a</a:t>
            </a:r>
          </a:p>
          <a:p>
            <a:r>
              <a:t>description typed here, the same place name typed again there, a date written three</a:t>
            </a:r>
          </a:p>
          <a:p>
            <a:r>
              <a:t>different ways because three different people wrote it.</a:t>
            </a:r>
          </a:p>
          <a:p/>
          <a:p>
            <a:r>
              <a:t>Dédalo works the other way round. The data is the point. The website is simply one of the</a:t>
            </a:r>
          </a:p>
          <a:p>
            <a:r>
              <a:t>things your data can be turned into — along with an export for a national aggregator, a</a:t>
            </a:r>
          </a:p>
          <a:p>
            <a:r>
              <a:t>research dataset, a printed catalogue, or a partner's portal.</a:t>
            </a:r>
          </a:p>
          <a:p/>
          <a:p>
            <a:r>
              <a:t>That inversion is not a slogan. It has consequences on every screen your team will touch,</a:t>
            </a:r>
          </a:p>
          <a:p>
            <a:r>
              <a:t>and the rest of this talk is really about those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How a catalogue is actually built in Dédalo.</a:t>
            </a:r>
          </a:p>
          <a:p/>
          <a:p>
            <a:r>
              <a:t>I need to give you three words — words you already have, just with precise meanings here —</a:t>
            </a:r>
          </a:p>
          <a:p>
            <a:r>
              <a:t>and then one single idea. If you take only one thing away from this whole talk it will be</a:t>
            </a:r>
          </a:p>
          <a:p>
            <a:r>
              <a:t>that idea, and it is coming up in about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words. You know all three concepts already; I just want us to use the same names.</a:t>
            </a:r>
          </a:p>
          <a:p/>
          <a:p>
            <a:r>
              <a:t>A RECORD is one thing you catalogue. An object, an interview, a photograph, a person, a</a:t>
            </a:r>
          </a:p>
          <a:p>
            <a:r>
              <a:t>place, a bibliographic reference.</a:t>
            </a:r>
          </a:p>
          <a:p/>
          <a:p>
            <a:r>
              <a:t>A SECTION holds all the records of the same kind. "Coins" is a section. "Oral testimonies"</a:t>
            </a:r>
          </a:p>
          <a:p>
            <a:r>
              <a:t>is a section. "People" is a section. If you come from databases, a section is a table. If</a:t>
            </a:r>
          </a:p>
          <a:p>
            <a:r>
              <a:t>you come from archives, think of a series of homogeneous units of description.</a:t>
            </a:r>
          </a:p>
          <a:p/>
          <a:p>
            <a:r>
              <a:t>And a COMPONENT is one field on the record — a title, a date, an extent, a photograph, a</a:t>
            </a:r>
          </a:p>
          <a:p>
            <a:r>
              <a:t>link to another record.</a:t>
            </a:r>
          </a:p>
          <a:p/>
          <a:p>
            <a:r>
              <a:t>One detail that matters more than it sounds: components have KINDS, and the kind makes the</a:t>
            </a:r>
          </a:p>
          <a:p>
            <a:r>
              <a:t>field intelligent. A date field understands imperfect and approximate dates. A geographic</a:t>
            </a:r>
          </a:p>
          <a:p>
            <a:r>
              <a:t>field understands coordinates. A media field knows a file has a master and derivatives. A</a:t>
            </a:r>
          </a:p>
          <a:p>
            <a:r>
              <a:t>link field knows its content is a pointer to another record, not a piece of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idea. If you remember nothing else, remember this.</a:t>
            </a:r>
          </a:p>
          <a:p/>
          <a:p>
            <a:r>
              <a:t>In most systems, the shape of your catalogue lives inside the program. Which record types</a:t>
            </a:r>
          </a:p>
          <a:p>
            <a:r>
              <a:t>exist, which fields they have, in what order, with which vocabularies, in which languages —</a:t>
            </a:r>
          </a:p>
          <a:p>
            <a:r>
              <a:t>all of that is written in code by a developer. Which means that changing it requires a</a:t>
            </a:r>
          </a:p>
          <a:p>
            <a:r>
              <a:t>developer, a release, a budget and a delay. Every curator in this room has waited months</a:t>
            </a:r>
          </a:p>
          <a:p>
            <a:r>
              <a:t>for a field.</a:t>
            </a:r>
          </a:p>
          <a:p/>
          <a:p>
            <a:r>
              <a:t>In Dédalo, the shape of your catalogue is itself DATA. It is described inside Dédalo and</a:t>
            </a:r>
          </a:p>
          <a:p>
            <a:r>
              <a:t>edited inside Dédalo, like any other content. Adding a field, creating a whole new type of</a:t>
            </a:r>
          </a:p>
          <a:p>
            <a:r>
              <a:t>record, reordering a form, making a field repeatable or translatable, saying "this field</a:t>
            </a:r>
          </a:p>
          <a:p>
            <a:r>
              <a:t>must draw its values from that thesaurus" — those are acts of documentation, not acts of</a:t>
            </a:r>
          </a:p>
          <a:p>
            <a:r>
              <a:t>programming.</a:t>
            </a:r>
          </a:p>
          <a:p/>
          <a:p>
            <a:r>
              <a:t>The system calls that description an ontology. Do not let the word frighten anyone: it</a:t>
            </a:r>
          </a:p>
          <a:p>
            <a:r>
              <a:t>simply means the catalogue knows what it is made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that actually change? Let me be concrete, because this is where the idea stops</a:t>
            </a:r>
          </a:p>
          <a:p>
            <a:r>
              <a:t>being abstract.</a:t>
            </a:r>
          </a:p>
          <a:p/>
          <a:p>
            <a:r>
              <a:t>You need a new field on a record type. Usually: a ticket to your supplier, a release, a</a:t>
            </a:r>
          </a:p>
          <a:p>
            <a:r>
              <a:t>wait of weeks or months. Here: you add it, and your team catalogues with it the same</a:t>
            </a:r>
          </a:p>
          <a:p>
            <a:r>
              <a:t>afternoon.</a:t>
            </a:r>
          </a:p>
          <a:p/>
          <a:p>
            <a:r>
              <a:t>You need a whole new kind of record — say you start accepting audiovisual donations.</a:t>
            </a:r>
          </a:p>
          <a:p>
            <a:r>
              <a:t>Usually a project with a quotation. Here, a decision taken in a meeting.</a:t>
            </a:r>
          </a:p>
          <a:p/>
          <a:p>
            <a:r>
              <a:t>A standard changes, or your thesaurus authority publishes a new version. Usually you depend</a:t>
            </a:r>
          </a:p>
          <a:p>
            <a:r>
              <a:t>on your supplier's roadmap. Here it is your own work, on your own schedule. And a new</a:t>
            </a:r>
          </a:p>
          <a:p>
            <a:r>
              <a:t>aggregator wants your data in their profile: configuration, then publish again.</a:t>
            </a:r>
          </a:p>
          <a:p/>
          <a:p>
            <a:r>
              <a:t>Now the honest part, and I want to say it out loud. This power sits with whoever designs</a:t>
            </a:r>
          </a:p>
          <a:p>
            <a:r>
              <a:t>your model. Dédalo will not stop you designing a bad catalogue — it stops the software from</a:t>
            </a:r>
          </a:p>
          <a:p>
            <a:r>
              <a:t>imposing one on you. So treat the model design with the same care as a cataloguing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Controlled vocabularies. Every institution has them: place names, personal names, subject</a:t>
            </a:r>
          </a:p>
          <a:p>
            <a:r>
              <a:t>headings, materials, techniques, typologies.</a:t>
            </a:r>
          </a:p>
          <a:p/>
          <a:p>
            <a:r>
              <a:t>In Dédalo a thesaurus is a tree of terms — and here is the part that matters — the terms in</a:t>
            </a:r>
          </a:p>
          <a:p>
            <a:r>
              <a:t>it are ordinary records. That sounds like a technicality. It is not.</a:t>
            </a:r>
          </a:p>
          <a:p/>
          <a:p>
            <a:r>
              <a:t>It means a place in your toponymic thesaurus is not the string "Vall de Cabó" typed into</a:t>
            </a:r>
          </a:p>
          <a:p>
            <a:r>
              <a:t>nine hundred records. It is ONE record. It has its own preferred form and its variants. It</a:t>
            </a:r>
          </a:p>
          <a:p>
            <a:r>
              <a:t>has coordinates. It is described in each of your working languages. It can carry its own</a:t>
            </a:r>
          </a:p>
          <a:p>
            <a:r>
              <a:t>history, its own bibliography, its own note about why the spelling changed in 1934.</a:t>
            </a:r>
          </a:p>
          <a:p/>
          <a:p>
            <a:r>
              <a:t>And nine hundred records point at it.</a:t>
            </a:r>
          </a:p>
          <a:p/>
          <a:p>
            <a:r>
              <a:t>That is the difference between a vocabulary you maintain and a vocabulary you merely hope</a:t>
            </a:r>
          </a:p>
          <a:p>
            <a:r>
              <a:t>everybody types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is, for my money, the single most important behaviour in the whole system, and it</a:t>
            </a:r>
          </a:p>
          <a:p>
            <a:r>
              <a:t>follows directly from the previous slide.</a:t>
            </a:r>
          </a:p>
          <a:p/>
          <a:p>
            <a:r>
              <a:t>When a record refers to another record, Dédalo stores a POINTER — never a copy of its name.</a:t>
            </a:r>
          </a:p>
          <a:p>
            <a:r>
              <a:t>Three consequences, all of them things documentalists want.</a:t>
            </a:r>
          </a:p>
          <a:p/>
          <a:p>
            <a:r>
              <a:t>First: correct once. You fix a name, a date, a spelling in the term record, and every</a:t>
            </a:r>
          </a:p>
          <a:p>
            <a:r>
              <a:t>record that refers to it is correct. Immediately. Everywhere. No find-and-replace, no</a:t>
            </a:r>
          </a:p>
          <a:p>
            <a:r>
              <a:t>"which of the four spellings is right", no cleanup project.</a:t>
            </a:r>
          </a:p>
          <a:p/>
          <a:p>
            <a:r>
              <a:t>Second: you can ask backwards. Because the link is real, you can ask "which testimonies</a:t>
            </a:r>
          </a:p>
          <a:p>
            <a:r>
              <a:t>mention this person?" or "what came out of this excavation?" — questions nobody had to</a:t>
            </a:r>
          </a:p>
          <a:p>
            <a:r>
              <a:t>anticipate when the form was designed.</a:t>
            </a:r>
          </a:p>
          <a:p/>
          <a:p>
            <a:r>
              <a:t>Third: silent divergence becomes impossible. Two records cannot end up with two spellings</a:t>
            </a:r>
          </a:p>
          <a:p>
            <a:r>
              <a:t>of the same place, because neither of them holds a spelling at all.</a:t>
            </a:r>
          </a:p>
          <a:p/>
          <a:p>
            <a:r>
              <a:t>That is what separates a catalogue from a spreadsheet, and it is why a Dédalo collection is</a:t>
            </a:r>
          </a:p>
          <a:p>
            <a:r>
              <a:t>still usable after twenty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Multilingualism. Two different things get translated in a heritage system, and confusing</a:t>
            </a:r>
          </a:p>
          <a:p>
            <a:r>
              <a:t>them causes real trouble — I have seen projects lose a year to it.</a:t>
            </a:r>
          </a:p>
          <a:p/>
          <a:p>
            <a:r>
              <a:t>The first is THE DATA. A title, a description, an abstract can exist in as many languages</a:t>
            </a:r>
          </a:p>
          <a:p>
            <a:r>
              <a:t>as your institution works in, stored separately on the same record. And some values are</a:t>
            </a:r>
          </a:p>
          <a:p>
            <a:r>
              <a:t>deliberately NOT translatable: an inventory number, a coordinate, a year are the same in</a:t>
            </a:r>
          </a:p>
          <a:p>
            <a:r>
              <a:t>every language, and the system knows that.</a:t>
            </a:r>
          </a:p>
          <a:p/>
          <a:p>
            <a:r>
              <a:t>The second is THE INTERFACE — the buttons, the menus, the field labels your cataloguer</a:t>
            </a:r>
          </a:p>
          <a:p>
            <a:r>
              <a:t>sees.</a:t>
            </a:r>
          </a:p>
          <a:p/>
          <a:p>
            <a:r>
              <a:t>They are independent. A cataloguer can work with the interface in Català while entering a</a:t>
            </a:r>
          </a:p>
          <a:p>
            <a:r>
              <a:t>description in English, and a researcher can read the catalogue in one language while the</a:t>
            </a:r>
          </a:p>
          <a:p>
            <a:r>
              <a:t>data is served in another.</a:t>
            </a:r>
          </a:p>
          <a:p/>
          <a:p>
            <a:r>
              <a:t>For those of us in bilingual or trilingual regions, and for anyone who wants their</a:t>
            </a:r>
          </a:p>
          <a:p>
            <a:r>
              <a:t>collection readable beyond their own language, this is not a nice-to-have. It is the</a:t>
            </a:r>
          </a:p>
          <a:p>
            <a:r>
              <a:t>difference between one audience and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change to a record is kept. What it was before, who changed it, and when. You can</a:t>
            </a:r>
          </a:p>
          <a:p>
            <a:r>
              <a:t>read the history of a record and restore an earlier state.</a:t>
            </a:r>
          </a:p>
          <a:p/>
          <a:p>
            <a:r>
              <a:t>I want to be careful about how I sell this, because "version history" sounds like a</a:t>
            </a:r>
          </a:p>
          <a:p>
            <a:r>
              <a:t>convenience feature — an undo button.</a:t>
            </a:r>
          </a:p>
          <a:p/>
          <a:p>
            <a:r>
              <a:t>For a scientific catalogue it is an evidential feature. It is what makes an attribution</a:t>
            </a:r>
          </a:p>
          <a:p>
            <a:r>
              <a:t>DEFENSIBLE: you can show when it changed and on whose authority. It is what makes a</a:t>
            </a:r>
          </a:p>
          <a:p>
            <a:r>
              <a:t>correction TRACEABLE. It is what lets a disputed record be reconstructed years later. And</a:t>
            </a:r>
          </a:p>
          <a:p>
            <a:r>
              <a:t>it is what lets you hand a collection to a colleague without losing the reasoning that</a:t>
            </a:r>
          </a:p>
          <a:p>
            <a:r>
              <a:t>produced it.</a:t>
            </a:r>
          </a:p>
          <a:p/>
          <a:p>
            <a:r>
              <a:t>It also removes a specific fear that slows teams down: the fear of a bad bulk edit. When a</a:t>
            </a:r>
          </a:p>
          <a:p>
            <a:r>
              <a:t>mistaken import or a wrong batch change is always recoverable, people stop being timid with</a:t>
            </a:r>
          </a:p>
          <a:p>
            <a:r>
              <a:t>their own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Access. In most systems you get two roles: editor and reader. That is never enough for a</a:t>
            </a:r>
          </a:p>
          <a:p>
            <a:r>
              <a:t>real institution.</a:t>
            </a:r>
          </a:p>
          <a:p/>
          <a:p>
            <a:r>
              <a:t>In Dédalo permission is expressed per section AND per field, at three levels: none, read,</a:t>
            </a:r>
          </a:p>
          <a:p>
            <a:r>
              <a:t>or read and write. "None" is genuinely none — the field is not there, and its existence is</a:t>
            </a:r>
          </a:p>
          <a:p>
            <a:r>
              <a:t>not advertised.</a:t>
            </a:r>
          </a:p>
          <a:p/>
          <a:p>
            <a:r>
              <a:t>That granularity makes three ordinary situations possible. A volunteer catalogues the</a:t>
            </a:r>
          </a:p>
          <a:p>
            <a:r>
              <a:t>physical description of objects and never sees the donor's name. An external researcher</a:t>
            </a:r>
          </a:p>
          <a:p>
            <a:r>
              <a:t>reads an entire collection and cannot alter a character of it. A project team sees its own</a:t>
            </a:r>
          </a:p>
          <a:p>
            <a:r>
              <a:t>material while it stays invisible to the rest of the house until they are ready.</a:t>
            </a:r>
          </a:p>
          <a:p/>
          <a:p>
            <a:r>
              <a:t>And one thing I will come back to later: these same permissions govern EVERY way into the</a:t>
            </a:r>
          </a:p>
          <a:p>
            <a:r>
              <a:t>data — the staff application, the public service, and any AI assistant you might connect.</a:t>
            </a:r>
          </a:p>
          <a:p>
            <a:r>
              <a:t>There is one set of rules, not one per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Files. In most systems a photograph is an attachment — a blob hanging off a record.</a:t>
            </a:r>
          </a:p>
          <a:p/>
          <a:p>
            <a:r>
              <a:t>Here, an uploaded photograph, recording or video becomes a MASTER, kept exactly as</a:t>
            </a:r>
          </a:p>
          <a:p>
            <a:r>
              <a:t>delivered and never altered, plus all the derivatives the system needs: web versions,</a:t>
            </a:r>
          </a:p>
          <a:p>
            <a:r>
              <a:t>thumbnails, and so on. If your originals are replaced or a new format is needed in ten</a:t>
            </a:r>
          </a:p>
          <a:p>
            <a:r>
              <a:t>years, the master is the thing you go back to.</a:t>
            </a:r>
          </a:p>
          <a:p/>
          <a:p>
            <a:r>
              <a:t>On top of that, a recording can be transcribed and indexed, so that a PASSAGE — with its</a:t>
            </a:r>
          </a:p>
          <a:p>
            <a:r>
              <a:t>timecode — becomes a citable unit. A researcher does not cite "interview 412"; they cite</a:t>
            </a:r>
          </a:p>
          <a:p>
            <a:r>
              <a:t>the ninety seconds where the thing was actually said. Long texts work the same way with</a:t>
            </a:r>
          </a:p>
          <a:p>
            <a:r>
              <a:t>page references.</a:t>
            </a:r>
          </a:p>
          <a:p/>
          <a:p>
            <a:r>
              <a:t>And a practical note for whoever manages your storage: large files are served directly by</a:t>
            </a:r>
          </a:p>
          <a:p>
            <a:r>
              <a:t>the web server rather than passed through the program, so a multi-gigabyte video is an</a:t>
            </a:r>
          </a:p>
          <a:p>
            <a:r>
              <a:t>ordinary case here, not an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Where the system actually lives, and how anything reaches the public.</a:t>
            </a:r>
          </a:p>
          <a:p/>
          <a:p>
            <a:r>
              <a:t>This is the part your IT department will ask about, and the part that decides how safe you</a:t>
            </a:r>
          </a:p>
          <a:p>
            <a:r>
              <a:t>are. It is simpler than people expect — three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whole infrastructure in one picture. Three columns, and the arrows only point</a:t>
            </a:r>
          </a:p>
          <a:p>
            <a:r>
              <a:t>one way.</a:t>
            </a:r>
          </a:p>
          <a:p/>
          <a:p>
            <a:r>
              <a:t>On the left, inside your institution: your team, each with a personal account; the Dédalo</a:t>
            </a:r>
          </a:p>
          <a:p>
            <a:r>
              <a:t>server, which is one program on one computer on your own network; and the catalogue itself —</a:t>
            </a:r>
          </a:p>
          <a:p>
            <a:r>
              <a:t>every record, every image, every version. That is the original, and the only original there</a:t>
            </a:r>
          </a:p>
          <a:p>
            <a:r>
              <a:t>is. None of it is reachable from the internet.</a:t>
            </a:r>
          </a:p>
          <a:p/>
          <a:p>
            <a:r>
              <a:t>In the middle, on the web server: a COPY of the records you decided to publish, and the</a:t>
            </a:r>
          </a:p>
          <a:p>
            <a:r>
              <a:t>service that hands that copy out. The same data can also be written as files for a partner</a:t>
            </a:r>
          </a:p>
          <a:p>
            <a:r>
              <a:t>or a national aggregator.</a:t>
            </a:r>
          </a:p>
          <a:p/>
          <a:p>
            <a:r>
              <a:t>On the right, the world: your website, your visitors, and — only if you switch it on — AI</a:t>
            </a:r>
          </a:p>
          <a:p>
            <a:r>
              <a:t>assistants.</a:t>
            </a:r>
          </a:p>
          <a:p/>
          <a:p>
            <a:r>
              <a:t>Two things follow. There is no route from the website back into your catalogue, because the</a:t>
            </a:r>
          </a:p>
          <a:p>
            <a:r>
              <a:t>public service cannot write anything anywhere. And the two halves can live on different</a:t>
            </a:r>
          </a:p>
          <a:p>
            <a:r>
              <a:t>machines, so an incident on the public side is not an incident on your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follow one record — one photograph, one interview, one coin — through its life.</a:t>
            </a:r>
          </a:p>
          <a:p/>
          <a:p>
            <a:r>
              <a:t>One: someone catalogues it, in the form your institution designed, in as many languages as</a:t>
            </a:r>
          </a:p>
          <a:p>
            <a:r>
              <a:t>you work in. Two: Dédalo keeps it, and keeps every change with its author and date.</a:t>
            </a:r>
          </a:p>
          <a:p/>
          <a:p>
            <a:r>
              <a:t>Three, and this is the important one: you decide it may be public. Publication is a decision</a:t>
            </a:r>
          </a:p>
          <a:p>
            <a:r>
              <a:t>taken record by record. Until that decision is taken, the record exists only inside the</a:t>
            </a:r>
          </a:p>
          <a:p>
            <a:r>
              <a:t>institution. And un-marking is equally a decision — the next run removes it.</a:t>
            </a:r>
          </a:p>
          <a:p/>
          <a:p>
            <a:r>
              <a:t>Four: Dédalo publishes. A background job copies the marked records outwards and writes the</a:t>
            </a:r>
          </a:p>
          <a:p>
            <a:r>
              <a:t>formats you asked for. It runs on its own; nobody sits and watches it, and if it is</a:t>
            </a:r>
          </a:p>
          <a:p>
            <a:r>
              <a:t>interrupted it resumes rather than starting over.</a:t>
            </a:r>
          </a:p>
          <a:p/>
          <a:p>
            <a:r>
              <a:t>Five: your website and your partners read that copy. Six: if you switch the AI layer on, the</a:t>
            </a:r>
          </a:p>
          <a:p>
            <a:r>
              <a:t>same record can be found by what it is about.</a:t>
            </a:r>
          </a:p>
          <a:p/>
          <a:p>
            <a:r>
              <a:t>Notice what steps 2 and 3 buy you together: you can catalogue frankly — with the donor's</a:t>
            </a:r>
          </a:p>
          <a:p>
            <a:r>
              <a:t>conditions, the internal notes, the unresolved attributions — and still publish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dwell on step three for a moment, because it is where institutions get hurt by</a:t>
            </a:r>
          </a:p>
          <a:p>
            <a:r>
              <a:t>other software.</a:t>
            </a:r>
          </a:p>
          <a:p/>
          <a:p>
            <a:r>
              <a:t>There is no "make it public" switch for the institution in Dédalo. There is a decision per</a:t>
            </a:r>
          </a:p>
          <a:p>
            <a:r>
              <a:t>record. There is no setting that publishes a whole collection because somebody imported it,</a:t>
            </a:r>
          </a:p>
          <a:p>
            <a:r>
              <a:t>and no default that quietly exposes a field nobody looked at.</a:t>
            </a:r>
          </a:p>
          <a:p/>
          <a:p>
            <a:r>
              <a:t>That has a liberating effect on cataloguing, and this is the point I most want to land.</a:t>
            </a:r>
          </a:p>
          <a:p>
            <a:r>
              <a:t>Because publication is a separate, deliberate act, your team can catalogue FRANKLY. They can</a:t>
            </a:r>
          </a:p>
          <a:p>
            <a:r>
              <a:t>record the donor's conditions, the internal note about the dubious provenance, the</a:t>
            </a:r>
          </a:p>
          <a:p>
            <a:r>
              <a:t>unresolved attribution, the name of the living person who asked not to be identified. A</a:t>
            </a:r>
          </a:p>
          <a:p>
            <a:r>
              <a:t>record can be public while some of its fields are not.</a:t>
            </a:r>
          </a:p>
          <a:p/>
          <a:p>
            <a:r>
              <a:t>And you can change your mind. Un-mark it, publish again, it is gone from the public copy.</a:t>
            </a:r>
          </a:p>
          <a:p/>
          <a:p>
            <a:r>
              <a:t>Catalogue frankly. Publish confidently. Those are not in tension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will hear the word "API" in every technical conversation about this, so let me define it</a:t>
            </a:r>
          </a:p>
          <a:p>
            <a:r>
              <a:t>once, in plain terms. An API is a door other programs may knock on. Dédalo has three, and</a:t>
            </a:r>
          </a:p>
          <a:p>
            <a:r>
              <a:t>each is guarded differently.</a:t>
            </a:r>
          </a:p>
          <a:p/>
          <a:p>
            <a:r>
              <a:t>The staff door: your own team, signed in, doing everything their permissions allow. It lets</a:t>
            </a:r>
          </a:p>
          <a:p>
            <a:r>
              <a:t>nobody in without an account.</a:t>
            </a:r>
          </a:p>
          <a:p/>
          <a:p>
            <a:r>
              <a:t>The public door: your website, partner portals, researchers you allow. It reads the</a:t>
            </a:r>
          </a:p>
          <a:p>
            <a:r>
              <a:t>published copy — records, images, searches, and passages of texts and recordings. It writes</a:t>
            </a:r>
          </a:p>
          <a:p>
            <a:r>
              <a:t>nothing, anywhere. This door has no handle on the inside.</a:t>
            </a:r>
          </a:p>
          <a:p/>
          <a:p>
            <a:r>
              <a:t>The AI door: an assistant you connected. It does exactly what the person using it may do —</a:t>
            </a:r>
          </a:p>
          <a:p>
            <a:r>
              <a:t>it searches, it reads, and when it wants to change something it drafts a plan for a human.</a:t>
            </a:r>
          </a:p>
          <a:p>
            <a:r>
              <a:t>It saves nothing that nobody confirmed.</a:t>
            </a:r>
          </a:p>
          <a:p/>
          <a:p>
            <a:r>
              <a:t>And the line at the bottom is the one to remember when your IT colleagues get nervous:</a:t>
            </a:r>
          </a:p>
          <a:p>
            <a:r>
              <a:t>whoever knocks passes the SAME checks, in the same order, against the same permissions.</a:t>
            </a:r>
          </a:p>
          <a:p>
            <a:r>
              <a:t>Opening the AI door opens nothing else. It is the same 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three, and this is where I keep the promise I made at the beginning.</a:t>
            </a:r>
          </a:p>
          <a:p/>
          <a:p>
            <a:r>
              <a:t>Two AI pieces are already built into Dédalo. I want to be precise about what they do and,</a:t>
            </a:r>
          </a:p>
          <a:p>
            <a:r>
              <a:t>just as importantly, what they are structurally unable to do — because in our field that</a:t>
            </a:r>
          </a:p>
          <a:p>
            <a:r>
              <a:t>second list is what decides whether anyone is allowed to use them.</a:t>
            </a:r>
          </a:p>
          <a:p/>
          <a:p>
            <a:r>
              <a:t>Both are optional. Both are switched off until an administrator turns them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the reservoir from the second slide? Here it is again.</a:t>
            </a:r>
          </a:p>
          <a:p/>
          <a:p>
            <a:r>
              <a:t>The researcher asks: which testimonies talk about people who had to leave their homes</a:t>
            </a:r>
          </a:p>
          <a:p>
            <a:r>
              <a:t>because of a dam?</a:t>
            </a:r>
          </a:p>
          <a:p/>
          <a:p>
            <a:r>
              <a:t>A word search finds only the records where somebody actually wrote the word she typed — "the</a:t>
            </a:r>
          </a:p>
          <a:p>
            <a:r>
              <a:t>reservoir works" — and misses everything else.</a:t>
            </a:r>
          </a:p>
          <a:p/>
          <a:p>
            <a:r>
              <a:t>Dédalo can also find "when the water came and we had to leave". "El pantano". "They flooded</a:t>
            </a:r>
          </a:p>
          <a:p>
            <a:r>
              <a:t>our houses". "Quan ens van fer marxar". Because those phrases MEAN almost the same thing,</a:t>
            </a:r>
          </a:p>
          <a:p>
            <a:r>
              <a:t>even though they share no words with the question.</a:t>
            </a:r>
          </a:p>
          <a:p/>
          <a:p>
            <a:r>
              <a:t>This matters more in cultural heritage than almost anywhere else, and I think you all know</a:t>
            </a:r>
          </a:p>
          <a:p>
            <a:r>
              <a:t>why. Our data is multilingual. It is historical — spellings and vocabularies change by</a:t>
            </a:r>
          </a:p>
          <a:p>
            <a:r>
              <a:t>decade and by trade. And it is paraphrastic: humans describe the same object, event or grief</a:t>
            </a:r>
          </a:p>
          <a:p>
            <a:r>
              <a:t>in endlessly different words. An archaeologist's "glazed earthenware vessel with cobalt</a:t>
            </a:r>
          </a:p>
          <a:p>
            <a:r>
              <a:t>decoration" is a curator's "blue-and-white majolica jar" is a donor's "old blue pot".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does it do that? Three lines, and no mathematics.</a:t>
            </a:r>
          </a:p>
          <a:p/>
          <a:p>
            <a:r>
              <a:t>One: Dédalo reads the records you choose — you choose, it is not automatic and not</a:t>
            </a:r>
          </a:p>
          <a:p>
            <a:r>
              <a:t>everything — and stores what they MEAN, as numbers. Two: when someone asks a question, the</a:t>
            </a:r>
          </a:p>
          <a:p>
            <a:r>
              <a:t>question is turned into the same kind of number. Three: the closest meanings come back.</a:t>
            </a:r>
          </a:p>
          <a:p/>
          <a:p>
            <a:r>
              <a:t>The band at the bottom is what makes this acceptable in a scholarly setting. Every answer</a:t>
            </a:r>
          </a:p>
          <a:p>
            <a:r>
              <a:t>CITES the record it came from. Nothing is summarised into an anonymous paragraph you have to</a:t>
            </a:r>
          </a:p>
          <a:p>
            <a:r>
              <a:t>trust. The researcher opens the record and judges for themselves — which is exactly what</a:t>
            </a:r>
          </a:p>
          <a:p>
            <a:r>
              <a:t>they would have done with a card catalogue, only they found it.</a:t>
            </a:r>
          </a:p>
          <a:p/>
          <a:p>
            <a:r>
              <a:t>And to be very clear, because this worries people: your precise, structured, field-by-field</a:t>
            </a:r>
          </a:p>
          <a:p>
            <a:r>
              <a:t>search does not go anywhere. It remains the right tool for "every coin minted before 100</a:t>
            </a:r>
          </a:p>
          <a:p>
            <a:r>
              <a:t>BC". Semantic search is an additional way in. In practice people use both in the same</a:t>
            </a:r>
          </a:p>
          <a:p>
            <a:r>
              <a:t>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second piece: connecting an AI assistant — the kind of thing your team may already</a:t>
            </a:r>
          </a:p>
          <a:p>
            <a:r>
              <a:t>be using in a browser tab.</a:t>
            </a:r>
          </a:p>
          <a:p/>
          <a:p>
            <a:r>
              <a:t>Three promises, and they are structural, not policy.</a:t>
            </a:r>
          </a:p>
          <a:p/>
          <a:p>
            <a:r>
              <a:t>One: it asks Dédalo, never the other way round. Your archive is not uploaded, not handed to</a:t>
            </a:r>
          </a:p>
          <a:p>
            <a:r>
              <a:t>a model to keep, not used to train anything. The assistant asks a question and gets an</a:t>
            </a:r>
          </a:p>
          <a:p>
            <a:r>
              <a:t>answer, the same way a person does.</a:t>
            </a:r>
          </a:p>
          <a:p/>
          <a:p>
            <a:r>
              <a:t>Two: it sees only what its user may see. An assistant working for a colleague sees that</a:t>
            </a:r>
          </a:p>
          <a:p>
            <a:r>
              <a:t>colleague's collections, at that colleague's permission level. It is the same lock we saw on</a:t>
            </a:r>
          </a:p>
          <a:p>
            <a:r>
              <a:t>the doors slide.</a:t>
            </a:r>
          </a:p>
          <a:p/>
          <a:p>
            <a:r>
              <a:t>Three: it proposes, a person decides. When it wants to change something it writes a plan</a:t>
            </a:r>
          </a:p>
          <a:p>
            <a:r>
              <a:t>that you read, operation by operation, and confirm. It cannot save on its own — the part of</a:t>
            </a:r>
          </a:p>
          <a:p>
            <a:r>
              <a:t>the system that talks to the model is built so that it is incapable of writing.</a:t>
            </a:r>
          </a:p>
          <a:p/>
          <a:p>
            <a:r>
              <a:t>I stress "structural": these are not settings somebody can forget to 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now the question every one of you is actually asking, so let us take it head on.</a:t>
            </a:r>
          </a:p>
          <a:p/>
          <a:p>
            <a:r>
              <a:t>Some collections may never leave the building. Testimony given under condition. Personal</a:t>
            </a:r>
          </a:p>
          <a:p>
            <a:r>
              <a:t>data of living people. Sacred or restricted material. In our field this is not a preference,</a:t>
            </a:r>
          </a:p>
          <a:p>
            <a:r>
              <a:t>it is often a legal or an ethical obligation, and sometimes a promise made to a person who</a:t>
            </a:r>
          </a:p>
          <a:p>
            <a:r>
              <a:t>is still alive.</a:t>
            </a:r>
          </a:p>
          <a:p/>
          <a:p>
            <a:r>
              <a:t>Dédalo lets you name those collections and exclude them from anything that would reach an</a:t>
            </a:r>
          </a:p>
          <a:p>
            <a:r>
              <a:t>outside model — while they remain fully searchable INSIDE the institution. So your own</a:t>
            </a:r>
          </a:p>
          <a:p>
            <a:r>
              <a:t>researchers keep the benefit; the outside world never touches it.</a:t>
            </a:r>
          </a:p>
          <a:p/>
          <a:p>
            <a:r>
              <a:t>Or you can point the assistant at a model running on your own hardware, in which case no</a:t>
            </a:r>
          </a:p>
          <a:p>
            <a:r>
              <a:t>record leaves the building at all.</a:t>
            </a:r>
          </a:p>
          <a:p/>
          <a:p>
            <a:r>
              <a:t>And the two features share one classification: a collection you restrict for search is</a:t>
            </a:r>
          </a:p>
          <a:p>
            <a:r>
              <a:t>restricted for the assistant too. You define it once, and you cannot half-forget it in the</a:t>
            </a:r>
          </a:p>
          <a:p>
            <a:r>
              <a:t>second place.</a:t>
            </a:r>
          </a:p>
          <a:p/>
          <a:p>
            <a:r>
              <a:t>This is the slide I would put in front of your ethics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smaller thing, but it lands well with funders and with boards.</a:t>
            </a:r>
          </a:p>
          <a:p/>
          <a:p>
            <a:r>
              <a:t>Dédalo carries a data-quality score called Raspa, which rates a catalogue from zero to ten</a:t>
            </a:r>
          </a:p>
          <a:p>
            <a:r>
              <a:t>across progressive levels: is it structured, is it modelled ontologically, is it traceable,</a:t>
            </a:r>
          </a:p>
          <a:p>
            <a:r>
              <a:t>is it translatable, is it processable with open tools.</a:t>
            </a:r>
          </a:p>
          <a:p/>
          <a:p>
            <a:r>
              <a:t>I am not going to pretend a number captures scholarship. It does not. What it does is make</a:t>
            </a:r>
          </a:p>
          <a:p>
            <a:r>
              <a:t>the conversation about quality concrete instead of impressionistic. In a funding</a:t>
            </a:r>
          </a:p>
          <a:p>
            <a:r>
              <a:t>application, "our catalogue scores seven, and here is what the eighth point requires" is a</a:t>
            </a:r>
          </a:p>
          <a:p>
            <a:r>
              <a:t>much stronger sentence than "our data is very good". Internally, it tells you what to</a:t>
            </a:r>
          </a:p>
          <a:p>
            <a:r>
              <a:t>improve next and why. And between institutions it gives you something comparable.</a:t>
            </a:r>
          </a:p>
          <a:p/>
          <a:p>
            <a:r>
              <a:t>There is even an extra point for data produced entirely with free and open tools — which</a:t>
            </a:r>
          </a:p>
          <a:p>
            <a:r>
              <a:t>tells you something about the values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translate "free and open source" into things a director cares about, because the</a:t>
            </a:r>
          </a:p>
          <a:p>
            <a:r>
              <a:t>phrase is often heard as "cheap" when what it really means is "yours".</a:t>
            </a:r>
          </a:p>
          <a:p/>
          <a:p>
            <a:r>
              <a:t>Your data: in an open database, on a machine you control, exportable in full, on any day,</a:t>
            </a:r>
          </a:p>
          <a:p>
            <a:r>
              <a:t>without asking anyone.</a:t>
            </a:r>
          </a:p>
          <a:p/>
          <a:p>
            <a:r>
              <a:t>Your model: the shape of your catalogue is a decision you take, not a product decision</a:t>
            </a:r>
          </a:p>
          <a:p>
            <a:r>
              <a:t>somebody makes for their whole customer base.</a:t>
            </a:r>
          </a:p>
          <a:p/>
          <a:p>
            <a:r>
              <a:t>Your budget: no licence and no per-seat fee. What you pay for is hosting, and whatever help</a:t>
            </a:r>
          </a:p>
          <a:p>
            <a:r>
              <a:t>you decide to buy — you can hire anyone, including your own staff.</a:t>
            </a:r>
          </a:p>
          <a:p/>
          <a:p>
            <a:r>
              <a:t>And your exit, which is the one that really matters: nothing here can be taken away from</a:t>
            </a:r>
          </a:p>
          <a:p>
            <a:r>
              <a:t>you, discontinued, or repriced.</a:t>
            </a:r>
          </a:p>
          <a:p/>
          <a:p>
            <a:r>
              <a:t>The sentence at the bottom is the argument I would make to a board. Institutions outlive</a:t>
            </a:r>
          </a:p>
          <a:p>
            <a:r>
              <a:t>suppliers. A catalogue built over twenty years should not depend on a company still existing</a:t>
            </a:r>
          </a:p>
          <a:p>
            <a:r>
              <a:t>or a licence still being renewed.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any of this appeals, what does starting actually look like? Four steps, and only one of</a:t>
            </a:r>
          </a:p>
          <a:p>
            <a:r>
              <a:t>them is difficult.</a:t>
            </a:r>
          </a:p>
          <a:p/>
          <a:p>
            <a:r>
              <a:t>One: install it. On a laptop in ten minutes if you just want to click around; on a proper</a:t>
            </a:r>
          </a:p>
          <a:p>
            <a:r>
              <a:t>server or in a container when you are serious. There is nothing to buy first, and no sales</a:t>
            </a:r>
          </a:p>
          <a:p>
            <a:r>
              <a:t>conversation to have.</a:t>
            </a:r>
          </a:p>
          <a:p/>
          <a:p>
            <a:r>
              <a:t>Two: design your model. This is the real work, and I want to be honest that it IS work.</a:t>
            </a:r>
          </a:p>
          <a:p>
            <a:r>
              <a:t>Which record types, which fields, which vocabularies, which languages. It deserves your best</a:t>
            </a:r>
          </a:p>
          <a:p>
            <a:r>
              <a:t>documentalists, not your IT department — and it is the step where the value of the whole</a:t>
            </a:r>
          </a:p>
          <a:p>
            <a:r>
              <a:t>project is decided.</a:t>
            </a:r>
          </a:p>
          <a:p/>
          <a:p>
            <a:r>
              <a:t>Three: bring your data in. Spreadsheets, an old database, catalogues in other formats.</a:t>
            </a:r>
          </a:p>
          <a:p>
            <a:r>
              <a:t>Almost nobody starts from nothing.</a:t>
            </a:r>
          </a:p>
          <a:p/>
          <a:p>
            <a:r>
              <a:t>Four: decide what is public. Later, and separately. Publishing is its own decision and it</a:t>
            </a:r>
          </a:p>
          <a:p>
            <a:r>
              <a:t>does not have to happen in the first year — plenty of institutions catalogue for a long while</a:t>
            </a:r>
          </a:p>
          <a:p>
            <a:r>
              <a:t>before they open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close where the whole design points.</a:t>
            </a:r>
          </a:p>
          <a:p/>
          <a:p>
            <a:r>
              <a:t>Catalogue frankly. Publish confidently.</a:t>
            </a:r>
          </a:p>
          <a:p/>
          <a:p>
            <a:r>
              <a:t>Everything I have shown you exists to make those two sentences true at the same time. The</a:t>
            </a:r>
          </a:p>
          <a:p>
            <a:r>
              <a:t>per-field permissions, so a volunteer can work on an object without seeing the donor. The</a:t>
            </a:r>
          </a:p>
          <a:p>
            <a:r>
              <a:t>per-record publication decision, so an internal note is never an accident waiting to happen.</a:t>
            </a:r>
          </a:p>
          <a:p>
            <a:r>
              <a:t>The version history, so a correction is traceable rather than embarrassing. The separation</a:t>
            </a:r>
          </a:p>
          <a:p>
            <a:r>
              <a:t>of the two servers, so the public side cannot reach back. The links instead of copies, so</a:t>
            </a:r>
          </a:p>
          <a:p>
            <a:r>
              <a:t>the catalogue is still coherent when the people who built it have retired.</a:t>
            </a:r>
          </a:p>
          <a:p/>
          <a:p>
            <a:r>
              <a:t>And the AI layer, on your terms, so that the knowledge already in your archive can finally</a:t>
            </a:r>
          </a:p>
          <a:p>
            <a:r>
              <a:t>be asked the questions it can answer.</a:t>
            </a:r>
          </a:p>
          <a:p/>
          <a:p>
            <a:r>
              <a:t>Thank you. I would rather spend the remaining time on your questions than on more slides —</a:t>
            </a:r>
          </a:p>
          <a:p>
            <a:r>
              <a:t>and if it is useful, I am happy to open the real system and show you any of this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E89A3C"/>
                </a:solidFill>
                <a:latin typeface="Helvetica Neue"/>
              </a:rPr>
              <a:t>FREE AND OPEN SOURCE · SINCE 2003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87168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0" b="1" i="0">
                <a:solidFill>
                  <a:srgbClr val="FFFFFF"/>
                </a:solidFill>
                <a:latin typeface="Helvetica Neue"/>
              </a:rPr>
              <a:t>Dédalo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67328"/>
            <a:ext cx="75929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0" i="0">
                <a:solidFill>
                  <a:srgbClr val="D8DFE8"/>
                </a:solidFill>
                <a:latin typeface="Helvetica Neue"/>
              </a:rPr>
              <a:t>Cultural heritage, catalogued to last.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2011680" cy="27432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738204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939EAC"/>
                </a:solidFill>
                <a:latin typeface="Helvetica Neue"/>
              </a:rPr>
              <a:t>A thirty-minute introduction for curators, archivists and collection teams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939EAC"/>
                </a:solidFill>
                <a:latin typeface="Helvetica Neue"/>
              </a:rPr>
              <a:t>No technical background needed.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463040"/>
            <a:ext cx="64008" cy="3566160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600200"/>
            <a:ext cx="999713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Helvetica Neue"/>
              </a:rPr>
              <a:t>Our archives know more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Helvetica Neue"/>
              </a:rPr>
              <a:t>than our searches can find.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937760"/>
            <a:ext cx="69602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939EAC"/>
                </a:solidFill>
                <a:latin typeface="Helvetica Neue"/>
              </a:rPr>
              <a:t>Hold that sentence. We come back to it at the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A system for managing cultural heritage —
built to produce good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423160"/>
            <a:ext cx="10545775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444419" cy="256032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50292" cy="2048255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017520"/>
            <a:ext cx="1877491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C22"/>
                </a:solidFill>
                <a:latin typeface="Helvetica Neue"/>
              </a:rPr>
              <a:t>Free and open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649472"/>
            <a:ext cx="1877491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No licence, no seat fee, no vendor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lock. The code and your data are yours.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3411" y="2743200"/>
            <a:ext cx="2444419" cy="2560320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523411" y="2999232"/>
            <a:ext cx="50292" cy="2048255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4307" y="3017520"/>
            <a:ext cx="1877491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C22"/>
                </a:solidFill>
                <a:latin typeface="Helvetica Neue"/>
              </a:rPr>
              <a:t>For every 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4307" y="3649472"/>
            <a:ext cx="1877491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Archives, museums, oral memory,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archaeology, ethnology, numismatics.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2743200"/>
            <a:ext cx="2444419" cy="2560320"/>
          </a:xfrm>
          <a:prstGeom prst="roundRect">
            <a:avLst>
              <a:gd name="adj" fmla="val 4500"/>
            </a:avLst>
          </a:prstGeom>
          <a:solidFill>
            <a:srgbClr val="EDF8F1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23863" y="2999232"/>
            <a:ext cx="50292" cy="2048255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4759" y="3017520"/>
            <a:ext cx="1877491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C22"/>
                </a:solidFill>
                <a:latin typeface="Helvetica Neue"/>
              </a:rPr>
              <a:t>Twenty years in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649472"/>
            <a:ext cx="1877491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Designed with institutions, in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institutions — not in a start-up.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315" y="2743200"/>
            <a:ext cx="2444419" cy="2560320"/>
          </a:xfrm>
          <a:prstGeom prst="roundRect">
            <a:avLst>
              <a:gd name="adj" fmla="val 4500"/>
            </a:avLst>
          </a:prstGeom>
          <a:solidFill>
            <a:srgbClr val="F4EFFD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924315" y="2999232"/>
            <a:ext cx="50292" cy="2048255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211" y="3017520"/>
            <a:ext cx="1877491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A1C22"/>
                </a:solidFill>
                <a:latin typeface="Helvetica Neue"/>
              </a:rPr>
              <a:t>Rebuilt, not patched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211" y="3649472"/>
            <a:ext cx="1877491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 brand-new engine under a mature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model, ready for the next twenty years.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A COMMON MISUNDERSTANDING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It is not a website manager
that happens to hold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88920"/>
            <a:ext cx="5044287" cy="2468880"/>
          </a:xfrm>
          <a:prstGeom prst="roundRect">
            <a:avLst>
              <a:gd name="adj" fmla="val 4500"/>
            </a:avLst>
          </a:prstGeom>
          <a:solidFill>
            <a:srgbClr val="F2F0EC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07008" y="3063240"/>
            <a:ext cx="42761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666E7A"/>
                </a:solidFill>
                <a:latin typeface="Helvetica Neue"/>
              </a:rPr>
              <a:t>A CONTENT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3520440"/>
            <a:ext cx="422132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i="0">
                <a:solidFill>
                  <a:srgbClr val="666E7A"/>
                </a:solidFill>
                <a:latin typeface="Helvetica Neue"/>
              </a:rPr>
              <a:t>Helps you publish pages.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i="0">
                <a:solidFill>
                  <a:srgbClr val="666E7A"/>
                </a:solidFill>
                <a:latin typeface="Helvetica Neue"/>
              </a:rPr>
              <a:t>The page is the point; the data exists to fill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788920"/>
            <a:ext cx="5044287" cy="246888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 w="12700">
            <a:solidFill>
              <a:srgbClr val="EED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324447" y="3044952"/>
            <a:ext cx="50292" cy="1956816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8495" y="3063240"/>
            <a:ext cx="42761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DÉDALO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8495" y="3520440"/>
            <a:ext cx="4129887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i="0">
                <a:solidFill>
                  <a:srgbClr val="1A1C22"/>
                </a:solidFill>
                <a:latin typeface="Helvetica Neue"/>
              </a:rPr>
              <a:t>Helps you produce data.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i="0">
                <a:solidFill>
                  <a:srgbClr val="1A1C22"/>
                </a:solidFill>
                <a:latin typeface="Helvetica Neue"/>
              </a:rPr>
              <a:t>The data is the point; the page is one of its outputs.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286000"/>
            <a:ext cx="64008" cy="2331720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E89A3C"/>
                </a:solidFill>
                <a:latin typeface="Helvetica Neue"/>
              </a:rPr>
              <a:t>PART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0"/>
            <a:ext cx="84366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Helvetica Neue"/>
              </a:rPr>
              <a:t>How a catalogue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675888"/>
            <a:ext cx="632746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 i="0">
                <a:solidFill>
                  <a:srgbClr val="939EAC"/>
                </a:solidFill>
                <a:latin typeface="Helvetica Neue"/>
              </a:rPr>
              <a:t>Three words, and one idea that changes everything.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THE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Three words cover most of what you 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307994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50292" cy="2651760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cument 5"/>
          <p:cNvSpPr/>
          <p:nvPr/>
        </p:nvSpPr>
        <p:spPr>
          <a:xfrm>
            <a:off x="1207007" y="2670048"/>
            <a:ext cx="603504" cy="494873"/>
          </a:xfrm>
          <a:prstGeom prst="flowChartDocument">
            <a:avLst/>
          </a:prstGeom>
          <a:noFill/>
          <a:ln w="2413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257647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1A1C22"/>
                </a:solidFill>
                <a:latin typeface="Helvetica Neue"/>
              </a:rPr>
              <a:t>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96512"/>
            <a:ext cx="257647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C2622A"/>
                </a:solidFill>
                <a:latin typeface="Helvetica Neue"/>
              </a:rPr>
              <a:t>One thing you catalogue.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257647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An object. An interview.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photograph. A person. A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1850" y="2377440"/>
            <a:ext cx="3307994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441850" y="2651760"/>
            <a:ext cx="50292" cy="265176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ultidocument 11"/>
          <p:cNvSpPr/>
          <p:nvPr/>
        </p:nvSpPr>
        <p:spPr>
          <a:xfrm>
            <a:off x="4825898" y="2670048"/>
            <a:ext cx="603504" cy="494873"/>
          </a:xfrm>
          <a:prstGeom prst="flowChartMultidocument">
            <a:avLst/>
          </a:prstGeom>
          <a:noFill/>
          <a:ln w="2413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7610" y="3566160"/>
            <a:ext cx="257647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1A1C22"/>
                </a:solidFill>
                <a:latin typeface="Helvetica Neue"/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7610" y="4096512"/>
            <a:ext cx="257647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E7490"/>
                </a:solidFill>
                <a:latin typeface="Helvetica Neue"/>
              </a:rPr>
              <a:t>Records of the same kind.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7610" y="4572000"/>
            <a:ext cx="257647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“Coins”. “Oral testimonies”.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“People”. A series of like units.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377440"/>
            <a:ext cx="3307994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060740" y="2651760"/>
            <a:ext cx="50292" cy="26517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splay 17"/>
          <p:cNvSpPr/>
          <p:nvPr/>
        </p:nvSpPr>
        <p:spPr>
          <a:xfrm>
            <a:off x="8444788" y="2670048"/>
            <a:ext cx="603504" cy="494873"/>
          </a:xfrm>
          <a:prstGeom prst="flowChartDisplay">
            <a:avLst/>
          </a:prstGeom>
          <a:noFill/>
          <a:ln w="2413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6500" y="3566160"/>
            <a:ext cx="257647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 i="0">
                <a:solidFill>
                  <a:srgbClr val="1A1C22"/>
                </a:solidFill>
                <a:latin typeface="Helvetica Neue"/>
              </a:rPr>
              <a:t>Component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6500" y="4096512"/>
            <a:ext cx="257647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Helvetica Neue"/>
              </a:rPr>
              <a:t>One field on the record.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6500" y="4572000"/>
            <a:ext cx="257647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title. A date. An extent.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photograph. A link.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E89A3C"/>
                </a:solidFill>
                <a:latin typeface="Helvetica Neue"/>
              </a:rPr>
              <a:t>THE IDEA WORTH REMEMBERING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01848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Helvetica Neue"/>
              </a:rPr>
              <a:t>The shape of your catalogue is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17520"/>
            <a:ext cx="5021427" cy="2697480"/>
          </a:xfrm>
          <a:prstGeom prst="roundRect">
            <a:avLst>
              <a:gd name="adj" fmla="val 4500"/>
            </a:avLst>
          </a:prstGeom>
          <a:solidFill>
            <a:srgbClr val="212A36"/>
          </a:solidFill>
          <a:ln w="12700">
            <a:solidFill>
              <a:srgbClr val="333E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34440" y="3310128"/>
            <a:ext cx="4198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939EAC"/>
                </a:solidFill>
                <a:latin typeface="Helvetica Neue"/>
              </a:rPr>
              <a:t>IN MOST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749039"/>
            <a:ext cx="419846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 i="0">
                <a:solidFill>
                  <a:srgbClr val="B9C3D0"/>
                </a:solidFill>
                <a:latin typeface="Helvetica Neue"/>
              </a:rPr>
              <a:t>The shape lives in the program.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 i="0">
                <a:solidFill>
                  <a:srgbClr val="B9C3D0"/>
                </a:solidFill>
                <a:latin typeface="Helvetica Neue"/>
              </a:rPr>
              <a:t>Which record types exist, which fields, in what order, in which languages — written in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30368"/>
            <a:ext cx="4198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BE123C"/>
                </a:solidFill>
                <a:latin typeface="Helvetica Neue"/>
              </a:rPr>
              <a:t>Changing it = a developer, a release, a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7307" y="3017520"/>
            <a:ext cx="5021427" cy="2697480"/>
          </a:xfrm>
          <a:prstGeom prst="roundRect">
            <a:avLst>
              <a:gd name="adj" fmla="val 4500"/>
            </a:avLst>
          </a:prstGeom>
          <a:solidFill>
            <a:srgbClr val="2A221A"/>
          </a:solidFill>
          <a:ln w="17780">
            <a:solidFill>
              <a:srgbClr val="C26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58787" y="3310128"/>
            <a:ext cx="4198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E89A3C"/>
                </a:solidFill>
                <a:latin typeface="Helvetica Neue"/>
              </a:rPr>
              <a:t>IN DÉDALO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8787" y="3749039"/>
            <a:ext cx="419846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 i="0">
                <a:solidFill>
                  <a:srgbClr val="EEE6DC"/>
                </a:solidFill>
                <a:latin typeface="Helvetica Neue"/>
              </a:rPr>
              <a:t>The shape is data you edit.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 b="0" i="0">
                <a:solidFill>
                  <a:srgbClr val="EEE6DC"/>
                </a:solidFill>
                <a:latin typeface="Helvetica Neue"/>
              </a:rPr>
              <a:t>Record types, fields, order, vocabularies, languages — described inside Dédalo.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8787" y="5230368"/>
            <a:ext cx="41984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E89A3C"/>
                </a:solidFill>
                <a:latin typeface="Helvetica Neue"/>
              </a:rPr>
              <a:t>Changing it = an act of 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What that changes, on a Tuesday afternoon.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76272"/>
            <a:ext cx="10545775" cy="566928"/>
          </a:xfrm>
          <a:prstGeom prst="roundRect">
            <a:avLst>
              <a:gd name="adj" fmla="val 45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52144" y="2340864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 spc="150">
                <a:solidFill>
                  <a:srgbClr val="666E7A"/>
                </a:solidFill>
                <a:latin typeface="Helvetica Neue"/>
              </a:rPr>
              <a:t>WHEN YOU NEED TO…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234086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 spc="150">
                <a:solidFill>
                  <a:srgbClr val="666E7A"/>
                </a:solidFill>
                <a:latin typeface="Helvetica Neue"/>
              </a:rPr>
              <a:t>USUALLY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34086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 spc="150">
                <a:solidFill>
                  <a:srgbClr val="C2622A"/>
                </a:solidFill>
                <a:latin typeface="Helvetica Neue"/>
              </a:rPr>
              <a:t>IN DÉDALO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0723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Add a field to a record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09067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A ticket, a release, a wait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0906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C2622A"/>
                </a:solidFill>
                <a:latin typeface="Helvetica Neue"/>
              </a:rPr>
              <a:t>You do it, and catalogue with it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52144" y="3547872"/>
            <a:ext cx="9887407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3785615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Create a new type of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8039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A project, and a quotation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80390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C2622A"/>
                </a:solidFill>
                <a:latin typeface="Helvetica Neue"/>
              </a:rPr>
              <a:t>A decision, taken in a meeting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144" y="4261104"/>
            <a:ext cx="9887407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4988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A standard or vocabulary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51713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A dependency on your supplier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51713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C2622A"/>
                </a:solidFill>
                <a:latin typeface="Helvetica Neue"/>
              </a:rPr>
              <a:t>Your own work, on your own schedule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2144" y="4974336"/>
            <a:ext cx="9887407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" y="52120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Publish to a new aggregator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23036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A development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2303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C2622A"/>
                </a:solidFill>
                <a:latin typeface="Helvetica Neue"/>
              </a:rPr>
              <a:t>A configuration, then publish again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87568"/>
            <a:ext cx="10545775" cy="512064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52144" y="5843016"/>
            <a:ext cx="9905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E7490"/>
                </a:solidFill>
                <a:latin typeface="Helvetica Neue"/>
              </a:rPr>
              <a:t>The honest part: this power sits with whoever designs your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CONTROLLED VOCABULARIES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A term is a record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27288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666E7A"/>
                </a:solidFill>
                <a:latin typeface="Helvetica Neue"/>
              </a:rPr>
              <a:t>Places, people, subjects, materials — held as a tree, and every term in it is a full record with its own description, variants and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54680"/>
            <a:ext cx="2286000" cy="566928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 w="12700">
            <a:solidFill>
              <a:srgbClr val="CF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332841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E7490"/>
                </a:solidFill>
                <a:latin typeface="Helvetica Neue"/>
              </a:rPr>
              <a:t>Toponymy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3721608"/>
            <a:ext cx="12801" cy="1874519"/>
          </a:xfrm>
          <a:prstGeom prst="rect">
            <a:avLst/>
          </a:prstGeom>
          <a:solidFill>
            <a:srgbClr val="C6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8448" y="4297680"/>
            <a:ext cx="411480" cy="10972"/>
          </a:xfrm>
          <a:prstGeom prst="rect">
            <a:avLst/>
          </a:prstGeom>
          <a:solidFill>
            <a:srgbClr val="C6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4023360"/>
            <a:ext cx="237744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65960" y="4187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C22"/>
                </a:solidFill>
                <a:latin typeface="Helvetica Neue"/>
              </a:rPr>
              <a:t>Alt Urgell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4956048"/>
            <a:ext cx="411480" cy="10972"/>
          </a:xfrm>
          <a:prstGeom prst="rect">
            <a:avLst/>
          </a:prstGeom>
          <a:solidFill>
            <a:srgbClr val="C6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37360" y="4681728"/>
            <a:ext cx="237744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65960" y="4846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Vall de Cabó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5614416"/>
            <a:ext cx="411480" cy="10972"/>
          </a:xfrm>
          <a:prstGeom prst="rect">
            <a:avLst/>
          </a:prstGeom>
          <a:solidFill>
            <a:srgbClr val="C6C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37360" y="5340096"/>
            <a:ext cx="237744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65960" y="55046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C22"/>
                </a:solidFill>
                <a:latin typeface="Helvetica Neue"/>
              </a:rPr>
              <a:t>La Seu d'Urgell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788920"/>
            <a:ext cx="4785055" cy="2834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583680" y="3044952"/>
            <a:ext cx="50292" cy="232257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40">
                <a:solidFill>
                  <a:srgbClr val="0E7490"/>
                </a:solidFill>
                <a:latin typeface="Helvetica Neue"/>
              </a:rPr>
              <a:t>VALL DE CABÓ — ONE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56616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Preferred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5661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C22"/>
                </a:solidFill>
                <a:latin typeface="Helvetica Neue"/>
              </a:rPr>
              <a:t>Vall de Cabó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6849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Variants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96849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C22"/>
                </a:solidFill>
                <a:latin typeface="Helvetica Neue"/>
              </a:rPr>
              <a:t>Vall de Cabo · Valle de Cabó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3708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3708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C22"/>
                </a:solidFill>
                <a:latin typeface="Helvetica Neue"/>
              </a:rPr>
              <a:t>42.19 N, 1.36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773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Described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47731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C22"/>
                </a:solidFill>
                <a:latin typeface="Helvetica Neue"/>
              </a:rPr>
              <a:t>ca · es · 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17550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Referred to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517550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A1C22"/>
                </a:solidFill>
                <a:latin typeface="Helvetica Neue"/>
              </a:rPr>
              <a:t>914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THE SINGLE MOST IMPORTANT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i="0">
                <a:solidFill>
                  <a:srgbClr val="1A1C22"/>
                </a:solidFill>
                <a:latin typeface="Helvetica Neue"/>
              </a:rPr>
              <a:t>Links, not copies.</a:t>
            </a:r>
          </a:p>
        </p:txBody>
      </p:sp>
      <p:sp>
        <p:nvSpPr>
          <p:cNvPr id="4" name="Oval 3"/>
          <p:cNvSpPr/>
          <p:nvPr/>
        </p:nvSpPr>
        <p:spPr>
          <a:xfrm>
            <a:off x="5522976" y="3648456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0047" y="4454662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01347" y="4952925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29804" y="4952925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01104" y="4454662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8176" y="3648456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01104" y="2842249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29804" y="2343986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01347" y="2343986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30047" y="2842249"/>
            <a:ext cx="384048" cy="384048"/>
          </a:xfrm>
          <a:prstGeom prst="ellipse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940" y="3131820"/>
            <a:ext cx="1417320" cy="14173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3529584"/>
            <a:ext cx="135331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ONE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402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A1C22"/>
                </a:solidFill>
                <a:latin typeface="Helvetica Neue"/>
              </a:rPr>
              <a:t>Correct once.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0604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Fix the term record and every record that points at it is correct — immediately, everywhere.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41071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A1C22"/>
                </a:solidFill>
                <a:latin typeface="Helvetica Neue"/>
              </a:rPr>
              <a:t>Ask backwards.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76472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“Which testimonies mention this person?” — a question you never had to plan for.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58114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A1C22"/>
                </a:solidFill>
                <a:latin typeface="Helvetica Neue"/>
              </a:rPr>
              <a:t>Never diverge.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946904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Two records cannot hold two spellings of one place, because they hold no spelling at 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5742432"/>
            <a:ext cx="4480560" cy="50292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60920" y="58887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C2622A"/>
                </a:solidFill>
                <a:latin typeface="Helvetica Neue"/>
              </a:rPr>
              <a:t>A catalogue, not a spreadsheet.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MULTILINGUAL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Two things get translated.
Confusing them causes trouble.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10545775" cy="1417320"/>
          </a:xfrm>
          <a:prstGeom prst="roundRect">
            <a:avLst>
              <a:gd name="adj" fmla="val 4500"/>
            </a:avLst>
          </a:prstGeom>
          <a:solidFill>
            <a:srgbClr val="F4EFFD"/>
          </a:solidFill>
          <a:ln w="12700">
            <a:solidFill>
              <a:srgbClr val="E0D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980944"/>
            <a:ext cx="50292" cy="94183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944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6D28D9"/>
                </a:solidFill>
                <a:latin typeface="Helvetica Neue"/>
              </a:rPr>
              <a:t>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346704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A title, a description, an abstract — in as many languages as you work in, each stored on the same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346704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Some values are the same in every language: an inventory number, a coordinate, a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34840"/>
            <a:ext cx="10545775" cy="1417320"/>
          </a:xfrm>
          <a:prstGeom prst="roundRect">
            <a:avLst>
              <a:gd name="adj" fmla="val 4500"/>
            </a:avLst>
          </a:prstGeom>
          <a:solidFill>
            <a:srgbClr val="F2F0EC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22960" y="4672584"/>
            <a:ext cx="50292" cy="941832"/>
          </a:xfrm>
          <a:prstGeom prst="roundRect">
            <a:avLst>
              <a:gd name="adj" fmla="val 50000"/>
            </a:avLst>
          </a:prstGeom>
          <a:solidFill>
            <a:srgbClr val="66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6360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666E7A"/>
                </a:solidFill>
                <a:latin typeface="Helvetica Neue"/>
              </a:rPr>
              <a:t>THE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038344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The buttons, menus and field labels your team sees while cataloguing.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038344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cataloguer can work in Català while entering a description in English.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EVERY CHANGE IS KEPT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800" b="1" i="0">
                <a:solidFill>
                  <a:srgbClr val="1A1C22"/>
                </a:solidFill>
                <a:latin typeface="Helvetica Neue"/>
              </a:rPr>
              <a:t>Nothing is silently lost.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082735" cy="18288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3163824"/>
            <a:ext cx="274320" cy="27432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79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3657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created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M. Ferrer</a:t>
            </a:r>
          </a:p>
        </p:txBody>
      </p:sp>
      <p:sp>
        <p:nvSpPr>
          <p:cNvPr id="8" name="Oval 7"/>
          <p:cNvSpPr/>
          <p:nvPr/>
        </p:nvSpPr>
        <p:spPr>
          <a:xfrm>
            <a:off x="3230803" y="3163824"/>
            <a:ext cx="274320" cy="27432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3563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6403" y="3657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date corrected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A. Roca</a:t>
            </a:r>
          </a:p>
        </p:txBody>
      </p:sp>
      <p:sp>
        <p:nvSpPr>
          <p:cNvPr id="11" name="Oval 10"/>
          <p:cNvSpPr/>
          <p:nvPr/>
        </p:nvSpPr>
        <p:spPr>
          <a:xfrm>
            <a:off x="5501487" y="3163824"/>
            <a:ext cx="274320" cy="27432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3657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attribution revised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M. Ferrer</a:t>
            </a:r>
          </a:p>
        </p:txBody>
      </p:sp>
      <p:sp>
        <p:nvSpPr>
          <p:cNvPr id="14" name="Oval 13"/>
          <p:cNvSpPr/>
          <p:nvPr/>
        </p:nvSpPr>
        <p:spPr>
          <a:xfrm>
            <a:off x="7772171" y="3163824"/>
            <a:ext cx="274320" cy="274320"/>
          </a:xfrm>
          <a:prstGeom prst="ellips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4931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771" y="3657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linked to the dig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J. Pla</a:t>
            </a:r>
          </a:p>
        </p:txBody>
      </p:sp>
      <p:sp>
        <p:nvSpPr>
          <p:cNvPr id="17" name="Oval 16"/>
          <p:cNvSpPr/>
          <p:nvPr/>
        </p:nvSpPr>
        <p:spPr>
          <a:xfrm>
            <a:off x="9987991" y="3108960"/>
            <a:ext cx="384048" cy="384048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5615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8455" y="3657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you are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46320"/>
            <a:ext cx="10545775" cy="105156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34440" y="5074920"/>
            <a:ext cx="963137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Not a comfort feature — an evidential one.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50" b="1" i="0">
                <a:solidFill>
                  <a:srgbClr val="1A1C22"/>
                </a:solidFill>
                <a:latin typeface="Helvetica Neue"/>
              </a:rPr>
              <a:t>It makes an attribution defensible, a correction traceable, a disputed record reconstructible.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Not “editor or reader”.
Field by field.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3307994" cy="1005840"/>
          </a:xfrm>
          <a:prstGeom prst="roundRect">
            <a:avLst>
              <a:gd name="adj" fmla="val 4500"/>
            </a:avLst>
          </a:prstGeom>
          <a:solidFill>
            <a:srgbClr val="F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70432" y="2734056"/>
            <a:ext cx="26679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BE123C"/>
                </a:solidFill>
                <a:latin typeface="Helvetica Neue"/>
              </a:rPr>
              <a:t>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063240"/>
            <a:ext cx="26679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cannot see it exists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1850" y="2560320"/>
            <a:ext cx="3307994" cy="1005840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89322" y="2734056"/>
            <a:ext cx="26679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0E7490"/>
                </a:solidFill>
                <a:latin typeface="Helvetica Neue"/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322" y="3063240"/>
            <a:ext cx="26679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can consult, not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0740" y="2560320"/>
            <a:ext cx="3307994" cy="1005840"/>
          </a:xfrm>
          <a:prstGeom prst="roundRect">
            <a:avLst>
              <a:gd name="adj" fmla="val 4500"/>
            </a:avLst>
          </a:prstGeom>
          <a:solidFill>
            <a:srgbClr val="E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08212" y="2734056"/>
            <a:ext cx="26679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5803D"/>
                </a:solidFill>
                <a:latin typeface="Helvetica Neue"/>
              </a:rPr>
              <a:t>Read &amp;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8212" y="3063240"/>
            <a:ext cx="26679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can consult and 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50">
                <a:solidFill>
                  <a:srgbClr val="666E7A"/>
                </a:solidFill>
                <a:latin typeface="Helvetica Neue"/>
              </a:rPr>
              <a:t>SET PER SECTION AND PER FIELD — SO THIS IS ORDINARY: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15968"/>
            <a:ext cx="10545775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2960" y="4416552"/>
            <a:ext cx="50292" cy="32918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462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A1C22"/>
                </a:solidFill>
                <a:latin typeface="Helvetica Neue"/>
              </a:rPr>
              <a:t>A volunteer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4714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catalogues the physical description…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471416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5803D"/>
                </a:solidFill>
                <a:latin typeface="Helvetica Neue"/>
              </a:rPr>
              <a:t>…and never sees the donor's name.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901183"/>
            <a:ext cx="10545775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22960" y="5001768"/>
            <a:ext cx="50292" cy="32918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0474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A1C22"/>
                </a:solidFill>
                <a:latin typeface="Helvetica Neue"/>
              </a:rPr>
              <a:t>An external researcher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056631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reads a collection in full…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056631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E7490"/>
                </a:solidFill>
                <a:latin typeface="Helvetica Neue"/>
              </a:rPr>
              <a:t>…and cannot alter a character of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486399"/>
            <a:ext cx="10545775" cy="5303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22960" y="5586983"/>
            <a:ext cx="50292" cy="32918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632703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A1C22"/>
                </a:solidFill>
                <a:latin typeface="Helvetica Neue"/>
              </a:rPr>
              <a:t>A project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64184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666E7A"/>
                </a:solidFill>
                <a:latin typeface="Helvetica Neue"/>
              </a:rPr>
              <a:t>sees its own material…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641847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6D28D9"/>
                </a:solidFill>
                <a:latin typeface="Helvetica Neue"/>
              </a:rPr>
              <a:t>…invisible to the rest of the house.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A file is not an attachment.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200400" cy="137160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 w="12700">
            <a:solidFill>
              <a:srgbClr val="EED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30175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50">
                <a:solidFill>
                  <a:srgbClr val="C2622A"/>
                </a:solidFill>
                <a:latin typeface="Helvetica Neue"/>
              </a:rPr>
              <a:t>THE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29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Kept as delivered. Never altered.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3416198"/>
            <a:ext cx="576072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4791456" y="335584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2377440"/>
            <a:ext cx="301752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40680" y="25420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A1C22"/>
                </a:solidFill>
                <a:latin typeface="Helvetica Neue"/>
              </a:rPr>
              <a:t>Derivatives for the 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035808"/>
            <a:ext cx="301752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40680" y="3200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A1C22"/>
                </a:solidFill>
                <a:latin typeface="Helvetica Neue"/>
              </a:rPr>
              <a:t>Thumbnails for 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694176"/>
            <a:ext cx="301752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0680" y="3858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A1C22"/>
                </a:solidFill>
                <a:latin typeface="Helvetica Neue"/>
              </a:rPr>
              <a:t>A transcript, timecoded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352544"/>
            <a:ext cx="3017520" cy="548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40680" y="45171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A1C22"/>
                </a:solidFill>
                <a:latin typeface="Helvetica Neue"/>
              </a:rPr>
              <a:t>Page references in long texts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377440"/>
            <a:ext cx="2864815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503920" y="2633472"/>
            <a:ext cx="50292" cy="213969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6151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50">
                <a:solidFill>
                  <a:srgbClr val="0E7490"/>
                </a:solidFill>
                <a:latin typeface="Helvetica Neue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035808"/>
            <a:ext cx="2697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passage of a recording, with its timecode, becomes a citable unit.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/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Multi-gigabyte video is ordinary: big files are served directly, never carried through the program.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286000"/>
            <a:ext cx="64008" cy="3063240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E89A3C"/>
                </a:solidFill>
                <a:latin typeface="Helvetica Neue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0"/>
            <a:ext cx="84366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Helvetica Neue"/>
              </a:rPr>
              <a:t>Where it lives, and
what reaches the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0"/>
            <a:ext cx="632746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 i="0">
                <a:solidFill>
                  <a:srgbClr val="939EAC"/>
                </a:solidFill>
                <a:latin typeface="Helvetica Neue"/>
              </a:rPr>
              <a:t>Two separate places, and one decision taken record by record.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INFRASTRUCTURE, IN ONE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Two separate places.
Only one faces the internet.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3210458" cy="3063240"/>
          </a:xfrm>
          <a:prstGeom prst="roundRect">
            <a:avLst>
              <a:gd name="adj" fmla="val 3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816352"/>
            <a:ext cx="25703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 spc="140">
                <a:solidFill>
                  <a:srgbClr val="0E7490"/>
                </a:solidFill>
                <a:latin typeface="Helvetica Neue"/>
              </a:rPr>
              <a:t>INSIDE YOUR INSTITUTION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3246120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80160" y="3355848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Your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30168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each with an account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4023359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80160" y="4133087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The Dédalo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07407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one program, your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4800600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80160" y="4910328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The catalogue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84648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the original — the only 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8282" y="4101998"/>
            <a:ext cx="237744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289450" y="404164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90618" y="2606040"/>
            <a:ext cx="3210458" cy="3063240"/>
          </a:xfrm>
          <a:prstGeom prst="roundRect">
            <a:avLst>
              <a:gd name="adj" fmla="val 30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10658" y="2816352"/>
            <a:ext cx="25703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 spc="140">
                <a:solidFill>
                  <a:srgbClr val="C2622A"/>
                </a:solidFill>
                <a:latin typeface="Helvetica Neue"/>
              </a:rPr>
              <a:t>ON THE WEB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46650" y="3246120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47818" y="3355848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The published 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7818" y="3630168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only what you marked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46650" y="4023359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947818" y="4133087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The public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7818" y="4407407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reads, and nothing else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46650" y="4800600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947818" y="4910328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7818" y="5184648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CSV · XML · RDF · Markdown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5940" y="4101998"/>
            <a:ext cx="237744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7957108" y="404164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8276" y="2606040"/>
            <a:ext cx="3210458" cy="3063240"/>
          </a:xfrm>
          <a:prstGeom prst="roundRect">
            <a:avLst>
              <a:gd name="adj" fmla="val 3000"/>
            </a:avLst>
          </a:prstGeom>
          <a:solidFill>
            <a:srgbClr val="E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478316" y="2816352"/>
            <a:ext cx="25703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 spc="140">
                <a:solidFill>
                  <a:srgbClr val="15803D"/>
                </a:solidFill>
                <a:latin typeface="Helvetica Neue"/>
              </a:rPr>
              <a:t>THE WORLD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4308" y="3246120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15476" y="3355848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Your website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5476" y="3630168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built from the copy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4308" y="4023359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15476" y="4133087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Visitors, researchers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5476" y="4407407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whoever you opened it 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4308" y="4800600"/>
            <a:ext cx="2698394" cy="6583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15476" y="4910328"/>
            <a:ext cx="22960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1A1C22"/>
                </a:solidFill>
                <a:latin typeface="Helvetica Neue"/>
              </a:rPr>
              <a:t>AI assistants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5476" y="5184648"/>
            <a:ext cx="229605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only if you switch them 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1706" y="5779008"/>
            <a:ext cx="36676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you choose what to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1076" y="5779008"/>
            <a:ext cx="36676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666E7A"/>
                </a:solidFill>
                <a:latin typeface="Helvetica Neue"/>
              </a:rPr>
              <a:t>read only — one 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FROM CATALOGUING TO THE PUBLIC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The journey of one record.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1589989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361922" y="2807208"/>
            <a:ext cx="512064" cy="5120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3520440"/>
            <a:ext cx="133395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Catalogued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315968"/>
            <a:ext cx="133395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in the form your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institution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designed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1237" y="3050438"/>
            <a:ext cx="54864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2449525" y="299008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14117" y="2606040"/>
            <a:ext cx="1589989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153079" y="2807208"/>
            <a:ext cx="512064" cy="5120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2133" y="3520440"/>
            <a:ext cx="133395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2133" y="4315968"/>
            <a:ext cx="133395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with every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version, author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and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2394" y="3050438"/>
            <a:ext cx="54864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240682" y="299008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5274" y="2606040"/>
            <a:ext cx="1589989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944237" y="2807208"/>
            <a:ext cx="512064" cy="512064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290" y="3520440"/>
            <a:ext cx="133395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Marked 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290" y="4315968"/>
            <a:ext cx="133395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a decision taken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record by record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3551" y="3050438"/>
            <a:ext cx="54864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6031839" y="299008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6431" y="2606040"/>
            <a:ext cx="1589989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735394" y="2807208"/>
            <a:ext cx="512064" cy="512064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520440"/>
            <a:ext cx="133395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Published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315968"/>
            <a:ext cx="133395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copied outwards,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in your formats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4708" y="3050438"/>
            <a:ext cx="54864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7822996" y="299008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87588" y="2606040"/>
            <a:ext cx="1589989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26551" y="2807208"/>
            <a:ext cx="512064" cy="51206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5604" y="3520440"/>
            <a:ext cx="133395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5604" y="4315968"/>
            <a:ext cx="133395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by your website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and partners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95866" y="3050438"/>
            <a:ext cx="54864" cy="25603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9614154" y="2990088"/>
            <a:ext cx="146304" cy="146304"/>
          </a:xfrm>
          <a:prstGeom prst="triangle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78746" y="2606040"/>
            <a:ext cx="1589989" cy="2606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0317708" y="2807208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762" y="3520440"/>
            <a:ext cx="133395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A1C22"/>
                </a:solidFill>
                <a:latin typeface="Helvetica Neue"/>
              </a:rPr>
              <a:t>Found by meaning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6762" y="4315968"/>
            <a:ext cx="133395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if you switch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66E7A"/>
                </a:solidFill>
                <a:latin typeface="Helvetica Neue"/>
              </a:rPr>
              <a:t>the AI layer 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440680"/>
            <a:ext cx="10545775" cy="749808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34440" y="5596128"/>
            <a:ext cx="96313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00" b="0" i="0">
                <a:solidFill>
                  <a:srgbClr val="1A1C22"/>
                </a:solidFill>
                <a:latin typeface="Helvetica Neue"/>
              </a:rPr>
              <a:t>Nothing is published by accident — step 3 is a human decision, and it can be undone.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300" b="0" i="0">
                <a:solidFill>
                  <a:srgbClr val="1A1C22"/>
                </a:solidFill>
                <a:latin typeface="Helvetica Neue"/>
              </a:rPr>
              <a:t>Nothing is silently lost — step 2 keeps every version, so a mistake is recoverable.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691640"/>
            <a:ext cx="64008" cy="2148840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737360"/>
            <a:ext cx="89639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</a:rPr>
              <a:t>There is no “make it public” switch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</a:rPr>
              <a:t>for the institution.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46120"/>
            <a:ext cx="759295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i="0">
                <a:solidFill>
                  <a:srgbClr val="E89A3C"/>
                </a:solidFill>
                <a:latin typeface="Helvetica Neue"/>
              </a:rPr>
              <a:t>There is a decision per record — and it is reversible.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32714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</a:rPr>
              <a:t>Catalogue frankly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32714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donor conditions, internal notes,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unresolved attributions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4434840"/>
            <a:ext cx="32714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</a:rPr>
              <a:t>Publish selectively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0138" y="4846320"/>
            <a:ext cx="32714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a record can be public while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some of its fields are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7316" y="4434840"/>
            <a:ext cx="32714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</a:rPr>
              <a:t>Change your 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7316" y="4846320"/>
            <a:ext cx="327141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un-mark it, and the next run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removes it from the copy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THE WORD “API”, EXPLAINED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An API is a door other programs may knock 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3271418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3271418" cy="841248"/>
          </a:xfrm>
          <a:prstGeom prst="roundRect">
            <a:avLst>
              <a:gd name="adj" fmla="val 60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52144" y="2633472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The staff 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2944368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0E7490"/>
                </a:solidFill>
                <a:latin typeface="Helvetica Neue"/>
              </a:rPr>
              <a:t>your team, signed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520440"/>
            <a:ext cx="261305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Everything their permissions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allow: create, edit, relate,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publish.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2144" y="4590288"/>
            <a:ext cx="2613050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4773168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40">
                <a:solidFill>
                  <a:srgbClr val="BE123C"/>
                </a:solidFill>
                <a:latin typeface="Helvetica Neue"/>
              </a:rPr>
              <a:t>NEVER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5047488"/>
            <a:ext cx="261305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1A1C22"/>
                </a:solidFill>
                <a:latin typeface="Helvetica Neue"/>
              </a:rPr>
              <a:t>Lets nobody in without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1A1C22"/>
                </a:solidFill>
                <a:latin typeface="Helvetica Neue"/>
              </a:rPr>
              <a:t>an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0138" y="2468880"/>
            <a:ext cx="3271418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460138" y="2468880"/>
            <a:ext cx="3271418" cy="841248"/>
          </a:xfrm>
          <a:prstGeom prst="roundRect">
            <a:avLst>
              <a:gd name="adj" fmla="val 60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89322" y="2633472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The public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9322" y="2944368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C2622A"/>
                </a:solidFill>
                <a:latin typeface="Helvetica Neue"/>
              </a:rPr>
              <a:t>your website and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9322" y="3520440"/>
            <a:ext cx="261305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Reads the published copy: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records, images, search,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passages.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9322" y="4590288"/>
            <a:ext cx="2613050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9322" y="4773168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40">
                <a:solidFill>
                  <a:srgbClr val="BE123C"/>
                </a:solidFill>
                <a:latin typeface="Helvetica Neue"/>
              </a:rPr>
              <a:t>NEVER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9322" y="5047488"/>
            <a:ext cx="261305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1A1C22"/>
                </a:solidFill>
                <a:latin typeface="Helvetica Neue"/>
              </a:rPr>
              <a:t>Writes nothing, anywhere.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2468880"/>
            <a:ext cx="3271418" cy="3154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097316" y="2468880"/>
            <a:ext cx="3271418" cy="841248"/>
          </a:xfrm>
          <a:prstGeom prst="roundRect">
            <a:avLst>
              <a:gd name="adj" fmla="val 6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26500" y="2633472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1A1C22"/>
                </a:solidFill>
                <a:latin typeface="Helvetica Neue"/>
              </a:rPr>
              <a:t>The AI door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6500" y="2944368"/>
            <a:ext cx="26313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6D28D9"/>
                </a:solidFill>
                <a:latin typeface="Helvetica Neue"/>
              </a:rPr>
              <a:t>an assistant you connected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6500" y="3520440"/>
            <a:ext cx="261305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Exactly what its user may do: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searches, reads, drafts 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change.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26500" y="4590288"/>
            <a:ext cx="2613050" cy="12801"/>
          </a:xfrm>
          <a:prstGeom prst="rect">
            <a:avLst/>
          </a:prstGeom>
          <a:solidFill>
            <a:srgbClr val="E2DC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6500" y="4773168"/>
            <a:ext cx="26130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40">
                <a:solidFill>
                  <a:srgbClr val="BE123C"/>
                </a:solidFill>
                <a:latin typeface="Helvetica Neue"/>
              </a:rPr>
              <a:t>NEVER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500" y="5047488"/>
            <a:ext cx="261305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1A1C22"/>
                </a:solidFill>
                <a:latin typeface="Helvetica Neue"/>
              </a:rPr>
              <a:t>Saves nothing that nobody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0" i="0">
                <a:solidFill>
                  <a:srgbClr val="1A1C22"/>
                </a:solidFill>
                <a:latin typeface="Helvetica Neue"/>
              </a:rPr>
              <a:t>confirmed.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760720"/>
            <a:ext cx="10545775" cy="457200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88720" y="5888736"/>
            <a:ext cx="98142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Helvetica Neue"/>
              </a:rPr>
              <a:t>One set of rules, checked at every door. Opening the AI door opens nothing else.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286000"/>
            <a:ext cx="64008" cy="306324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2860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 spc="200">
                <a:solidFill>
                  <a:srgbClr val="E89A3C"/>
                </a:solidFill>
                <a:latin typeface="Helvetica Neue"/>
              </a:rPr>
              <a:t>PART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0"/>
            <a:ext cx="84366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Helvetica Neue"/>
              </a:rPr>
              <a:t>Ready for AI —
and on your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0"/>
            <a:ext cx="632746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 i="0">
                <a:solidFill>
                  <a:srgbClr val="939EAC"/>
                </a:solidFill>
                <a:latin typeface="Helvetica Neue"/>
              </a:rPr>
              <a:t>Two pieces, already built. Both optional. Both off until you turn them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6D28D9"/>
                </a:solidFill>
                <a:latin typeface="Helvetica Neue"/>
              </a:rPr>
              <a:t>REMEMBER THE RESERVOIR?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24128"/>
            <a:ext cx="10545775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261872"/>
            <a:ext cx="50292" cy="5760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9494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0" i="1">
                <a:solidFill>
                  <a:srgbClr val="1A1C22"/>
                </a:solidFill>
                <a:latin typeface="Helvetica Neue"/>
              </a:rPr>
              <a:t>“Which testimonies talk about people who had to leave their homes because of a dam?”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021427" cy="3200400"/>
          </a:xfrm>
          <a:prstGeom prst="roundRect">
            <a:avLst>
              <a:gd name="adj" fmla="val 4500"/>
            </a:avLst>
          </a:prstGeom>
          <a:solidFill>
            <a:srgbClr val="F2F0EC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41984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50">
                <a:solidFill>
                  <a:srgbClr val="666E7A"/>
                </a:solidFill>
                <a:latin typeface="Helvetica Neue"/>
              </a:rPr>
              <a:t>A WORD SEARCH FINDS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200400"/>
            <a:ext cx="41984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666E7A"/>
                </a:solidFill>
                <a:latin typeface="Helvetica Neue"/>
              </a:rPr>
              <a:t>Only where somebody wrote the 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931920"/>
            <a:ext cx="41984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1">
                <a:solidFill>
                  <a:srgbClr val="1A1C22"/>
                </a:solidFill>
                <a:latin typeface="Helvetica Neue"/>
              </a:rPr>
              <a:t>“…the reservoir works…”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892040"/>
            <a:ext cx="41984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BE123C"/>
                </a:solidFill>
                <a:latin typeface="Helvetica Neue"/>
              </a:rPr>
              <a:t>and misses all the 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7307" y="2468880"/>
            <a:ext cx="5021427" cy="3200400"/>
          </a:xfrm>
          <a:prstGeom prst="roundRect">
            <a:avLst>
              <a:gd name="adj" fmla="val 4500"/>
            </a:avLst>
          </a:prstGeom>
          <a:solidFill>
            <a:srgbClr val="F4EFFD"/>
          </a:solidFill>
          <a:ln w="17780">
            <a:solidFill>
              <a:srgbClr val="E0D5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58787" y="2743200"/>
            <a:ext cx="41984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50">
                <a:solidFill>
                  <a:srgbClr val="6D28D9"/>
                </a:solidFill>
                <a:latin typeface="Helvetica Neue"/>
              </a:rPr>
              <a:t>DÉDALO FINDS ALSO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8787" y="3200400"/>
            <a:ext cx="41070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1">
                <a:solidFill>
                  <a:srgbClr val="1A1C22"/>
                </a:solidFill>
                <a:latin typeface="Helvetica Neue"/>
              </a:rPr>
              <a:t>“when the water came and we had to leave”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8787" y="3803904"/>
            <a:ext cx="41070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1">
                <a:solidFill>
                  <a:srgbClr val="1A1C22"/>
                </a:solidFill>
                <a:latin typeface="Helvetica Neue"/>
              </a:rPr>
              <a:t>“el pantano”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8787" y="4407408"/>
            <a:ext cx="41070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1">
                <a:solidFill>
                  <a:srgbClr val="1A1C22"/>
                </a:solidFill>
                <a:latin typeface="Helvetica Neue"/>
              </a:rPr>
              <a:t>“they flooded our houses”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8787" y="5010912"/>
            <a:ext cx="410702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1">
                <a:solidFill>
                  <a:srgbClr val="1A1C22"/>
                </a:solidFill>
                <a:latin typeface="Helvetica Neue"/>
              </a:rPr>
              <a:t>“quan ens van fer marxar”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6D28D9"/>
                </a:solidFill>
                <a:latin typeface="Helvetica Neue"/>
              </a:rPr>
              <a:t>THREE LINES, NO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1A1C22"/>
                </a:solidFill>
                <a:latin typeface="Helvetica Neue"/>
              </a:rPr>
              <a:t>How it works.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27141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51560" y="256032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364992"/>
            <a:ext cx="268620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Dédalo reads the records you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choose and stores what they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mean, as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0138" y="2377440"/>
            <a:ext cx="327141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688738" y="256032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2746" y="3364992"/>
            <a:ext cx="268620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A question is turned into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the same kind of number.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2377440"/>
            <a:ext cx="3271418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5916" y="2560320"/>
            <a:ext cx="548640" cy="5486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9924" y="3364992"/>
            <a:ext cx="268620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The closest meanings come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back — each citing the record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it came from.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0600"/>
            <a:ext cx="10545775" cy="1280160"/>
          </a:xfrm>
          <a:prstGeom prst="roundRect">
            <a:avLst>
              <a:gd name="adj" fmla="val 4500"/>
            </a:avLst>
          </a:prstGeom>
          <a:solidFill>
            <a:srgbClr val="E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22960" y="5029200"/>
            <a:ext cx="50292" cy="82296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992624"/>
            <a:ext cx="96313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50">
                <a:solidFill>
                  <a:srgbClr val="15803D"/>
                </a:solidFill>
                <a:latin typeface="Helvetica Neue"/>
              </a:rPr>
              <a:t>IT ALWAYS CITES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76672"/>
            <a:ext cx="96313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A1C22"/>
                </a:solidFill>
                <a:latin typeface="Helvetica Neue"/>
              </a:rPr>
              <a:t>Every answer points at the record it came from. Your precise, field-by-field search stays exactly as it is — this is an additional way in, not a replacement.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6D28D9"/>
                </a:solidFill>
                <a:latin typeface="Helvetica Neue"/>
              </a:rPr>
              <a:t>CONNECTING AN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It works with your catalogue —
it is never given a copy of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3271418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862072"/>
            <a:ext cx="50292" cy="255117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" y="2871215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3675887"/>
            <a:ext cx="26130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It asks Dédalo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4480560"/>
            <a:ext cx="261305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Never the other way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round. Your data is not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handed to a model to keep.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2606040"/>
            <a:ext cx="3271418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460138" y="2862072"/>
            <a:ext cx="50292" cy="255117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71034" y="2871215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9322" y="3675887"/>
            <a:ext cx="26130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It sees what its user sees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9322" y="4480560"/>
            <a:ext cx="261305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An assistant working for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a colleague sees that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colleague's collections 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no more, ever.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2606040"/>
            <a:ext cx="3271418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097316" y="2862072"/>
            <a:ext cx="50292" cy="255117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8212" y="2871215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500" y="3675887"/>
            <a:ext cx="26130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It proposes; you 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500" y="4480560"/>
            <a:ext cx="261305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It writes a plan you read,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op by op, and confirm.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It cannot save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64008" cy="224028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896390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Some collections may never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Helvetica Neue"/>
              </a:rPr>
              <a:t>leave the building.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63240"/>
            <a:ext cx="69602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 i="0">
                <a:solidFill>
                  <a:srgbClr val="939EAC"/>
                </a:solidFill>
                <a:latin typeface="Helvetica Neue"/>
              </a:rPr>
              <a:t>Testimony given under condition. Personal data of living people. Sacred or restricted material.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69080"/>
            <a:ext cx="3271418" cy="1874519"/>
          </a:xfrm>
          <a:prstGeom prst="roundRect">
            <a:avLst>
              <a:gd name="adj" fmla="val 4500"/>
            </a:avLst>
          </a:prstGeom>
          <a:solidFill>
            <a:srgbClr val="212A36"/>
          </a:solidFill>
          <a:ln w="12700">
            <a:solidFill>
              <a:srgbClr val="333E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52144" y="4297680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Exclude them by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4754880"/>
            <a:ext cx="263133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They stay fully searchable inside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the institution, and reach nothing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outside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0138" y="4069080"/>
            <a:ext cx="3271418" cy="1874519"/>
          </a:xfrm>
          <a:prstGeom prst="roundRect">
            <a:avLst>
              <a:gd name="adj" fmla="val 4500"/>
            </a:avLst>
          </a:prstGeom>
          <a:solidFill>
            <a:srgbClr val="212A36"/>
          </a:solidFill>
          <a:ln w="12700">
            <a:solidFill>
              <a:srgbClr val="333E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89322" y="4297680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Or use your own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9322" y="4754880"/>
            <a:ext cx="263133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Running on your hardware, so no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record leaves the building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4069080"/>
            <a:ext cx="3271418" cy="1874519"/>
          </a:xfrm>
          <a:prstGeom prst="roundRect">
            <a:avLst>
              <a:gd name="adj" fmla="val 4500"/>
            </a:avLst>
          </a:prstGeom>
          <a:solidFill>
            <a:srgbClr val="212A36"/>
          </a:solidFill>
          <a:ln w="12700">
            <a:solidFill>
              <a:srgbClr val="333E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26500" y="4297680"/>
            <a:ext cx="263133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One list, both 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6500" y="4754880"/>
            <a:ext cx="263133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What you restrict for search is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39EAC"/>
                </a:solidFill>
                <a:latin typeface="Helvetica Neue"/>
              </a:rPr>
              <a:t>restricted for the assistant too.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You can argue about quality
with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548380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666E7A"/>
                </a:solidFill>
                <a:latin typeface="Helvetica Neue"/>
              </a:rPr>
              <a:t>Raspa scores a catalogue from 0 to 10 across progressive levels of computational readiness, semantic richness and ethical transparency.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389888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956816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523744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090672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657600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224528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91456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358384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925312" y="3520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structured · modelled · traceable · translatable · 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5483803" cy="457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47274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A1C22"/>
                </a:solidFill>
                <a:latin typeface="Helvetica Neue"/>
              </a:rPr>
              <a:t>In a funding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7365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number behind the argument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66359"/>
            <a:ext cx="5483803" cy="457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52760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A1C22"/>
                </a:solidFill>
                <a:latin typeface="Helvetica Neue"/>
              </a:rPr>
              <a:t>Inside the 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2852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what to improve next, and why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15000"/>
            <a:ext cx="5483803" cy="457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58247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A1C22"/>
                </a:solidFill>
                <a:latin typeface="Helvetica Neue"/>
              </a:rPr>
              <a:t>Between institutions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58338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a shared, comparable measure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8594" y="2286000"/>
            <a:ext cx="4640141" cy="393192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40074" y="2606040"/>
            <a:ext cx="3817181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450" b="0" i="0">
                <a:solidFill>
                  <a:srgbClr val="1A1C22"/>
                </a:solidFill>
                <a:latin typeface="Helvetica Neue"/>
              </a:rPr>
              <a:t>“Good data” stops being an opinion.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450" b="0" i="0">
                <a:solidFill>
                  <a:srgbClr val="1A1C22"/>
                </a:solidFill>
                <a:latin typeface="Helvetica Neue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450" b="0" i="0">
                <a:solidFill>
                  <a:srgbClr val="1A1C22"/>
                </a:solidFill>
                <a:latin typeface="Helvetica Neue"/>
              </a:rPr>
              <a:t>Not because a number captures scholarship — it does not — but because it makes the conversation about quality concrete, repeatable and comparable between projects.</a:t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450" b="0" i="0">
                <a:solidFill>
                  <a:srgbClr val="1A1C22"/>
                </a:solidFill>
                <a:latin typeface="Helvetica Neue"/>
              </a:rPr>
              <a:t/>
            </a:r>
          </a:p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450" b="0" i="0">
                <a:solidFill>
                  <a:srgbClr val="1A1C22"/>
                </a:solidFill>
                <a:latin typeface="Helvetica Neue"/>
              </a:rPr>
              <a:t>An extra point is available for data produced with fully free and open tools.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FREE AND OPEN SOURCE, CONCRETELY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What that actually means for you.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2444419" cy="2377440"/>
          </a:xfrm>
          <a:prstGeom prst="roundRect">
            <a:avLst>
              <a:gd name="adj" fmla="val 4500"/>
            </a:avLst>
          </a:prstGeom>
          <a:solidFill>
            <a:srgbClr val="ECF6F9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816352"/>
            <a:ext cx="50292" cy="186537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834639"/>
            <a:ext cx="1877491" cy="354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Your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3262122"/>
            <a:ext cx="18774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In an open database, on a machine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you control. Exportable in full.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3411" y="2560320"/>
            <a:ext cx="2444419" cy="2377440"/>
          </a:xfrm>
          <a:prstGeom prst="roundRect">
            <a:avLst>
              <a:gd name="adj" fmla="val 4500"/>
            </a:avLst>
          </a:prstGeom>
          <a:solidFill>
            <a:srgbClr val="FBF1E7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523411" y="2816352"/>
            <a:ext cx="50292" cy="1865376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34307" y="2834639"/>
            <a:ext cx="1877491" cy="354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Your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4307" y="3262122"/>
            <a:ext cx="18774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The shape of your catalogue is yours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— not a supplier's product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2560320"/>
            <a:ext cx="2444419" cy="2377440"/>
          </a:xfrm>
          <a:prstGeom prst="roundRect">
            <a:avLst>
              <a:gd name="adj" fmla="val 4500"/>
            </a:avLst>
          </a:prstGeom>
          <a:solidFill>
            <a:srgbClr val="EDF8F1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223863" y="2816352"/>
            <a:ext cx="50292" cy="1865376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834639"/>
            <a:ext cx="1877491" cy="354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Your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262122"/>
            <a:ext cx="18774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No licence, no per-seat fee. You pay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for hosting and the help you choose.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315" y="2560320"/>
            <a:ext cx="2444419" cy="2377440"/>
          </a:xfrm>
          <a:prstGeom prst="roundRect">
            <a:avLst>
              <a:gd name="adj" fmla="val 4500"/>
            </a:avLst>
          </a:prstGeom>
          <a:solidFill>
            <a:srgbClr val="F4EFFD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24315" y="2816352"/>
            <a:ext cx="50292" cy="186537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211" y="2834639"/>
            <a:ext cx="1877491" cy="3543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Your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211" y="3262122"/>
            <a:ext cx="1877491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The one that matters: nothing here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250" b="0" i="0">
                <a:solidFill>
                  <a:srgbClr val="666E7A"/>
                </a:solidFill>
                <a:latin typeface="Helvetica Neue"/>
              </a:rPr>
              <a:t>can be taken away or discontinued.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57800"/>
            <a:ext cx="10545775" cy="868680"/>
          </a:xfrm>
          <a:prstGeom prst="roundRect">
            <a:avLst>
              <a:gd name="adj" fmla="val 4500"/>
            </a:avLst>
          </a:prstGeom>
          <a:solidFill>
            <a:srgbClr val="F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34440" y="5458968"/>
            <a:ext cx="96313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 i="0">
                <a:solidFill>
                  <a:srgbClr val="1A1C22"/>
                </a:solidFill>
                <a:latin typeface="Helvetica Neue"/>
              </a:rPr>
              <a:t>Institutions outlive suppliers. A catalogue built over twenty years should not depend on a company still existing, or on a licence still being renewed.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 spc="160">
                <a:solidFill>
                  <a:srgbClr val="C2622A"/>
                </a:solidFill>
                <a:latin typeface="Helvetica Neue"/>
              </a:rPr>
              <a:t>IF YOU WANTED TO 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A1C22"/>
                </a:solidFill>
                <a:latin typeface="Helvetica Neue"/>
              </a:rPr>
              <a:t>What starting actually looks like.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10545775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50292" cy="50292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651760"/>
            <a:ext cx="493776" cy="49377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651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Install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642616"/>
            <a:ext cx="58823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On a laptop in ten minutes to look around; on a server, or in 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container, when you are serious. Nothing to buy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10545775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22960" y="3611880"/>
            <a:ext cx="50292" cy="502920"/>
          </a:xfrm>
          <a:prstGeom prst="roundRect">
            <a:avLst>
              <a:gd name="adj" fmla="val 50000"/>
            </a:avLst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440" y="3611879"/>
            <a:ext cx="493776" cy="493776"/>
          </a:xfrm>
          <a:prstGeom prst="ellipse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611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Design your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602736"/>
            <a:ext cx="58823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The real work, and the part that deserves your best people: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which record types, which fields, which vocabularies.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89120"/>
            <a:ext cx="10545775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50292" cy="5029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4440" y="4572000"/>
            <a:ext cx="493776" cy="49377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572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Bring your data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562856"/>
            <a:ext cx="58823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Import what you already have — spreadsheets, an old database,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catalogues in other formats — and start cataloguing.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49240"/>
            <a:ext cx="10545775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D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22960" y="5532120"/>
            <a:ext cx="50292" cy="5029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34440" y="5532119"/>
            <a:ext cx="493776" cy="49377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532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 i="0">
                <a:solidFill>
                  <a:srgbClr val="1A1C22"/>
                </a:solidFill>
                <a:latin typeface="Helvetica Neue"/>
              </a:rPr>
              <a:t>Decide what is 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522976"/>
            <a:ext cx="58823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Later, and separately. Publishing is its own decision, and it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666E7A"/>
                </a:solidFill>
                <a:latin typeface="Helvetica Neue"/>
              </a:rPr>
              <a:t>does not have to happen in the first year.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09360"/>
            <a:ext cx="738204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 spc="60">
                <a:solidFill>
                  <a:srgbClr val="A69E92"/>
                </a:solidFill>
                <a:latin typeface="Helvetica Neue"/>
              </a:rPr>
              <a:t>Dédalo · Cultural Heritage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309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A69E92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906936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Helvetica Neue"/>
              </a:rPr>
              <a:t>Catalogue frankly.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Helvetica Neue"/>
              </a:rPr>
              <a:t>Publish confidently.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023360"/>
            <a:ext cx="2011680" cy="27432"/>
          </a:xfrm>
          <a:prstGeom prst="rect">
            <a:avLst/>
          </a:prstGeom>
          <a:solidFill>
            <a:srgbClr val="C26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780387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0" i="0">
                <a:solidFill>
                  <a:srgbClr val="C8D1DC"/>
                </a:solidFill>
                <a:latin typeface="Helvetica Neue"/>
              </a:rPr>
              <a:t>Everything else in this talk exists to make those two sentences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0" i="0">
                <a:solidFill>
                  <a:srgbClr val="C8D1DC"/>
                </a:solidFill>
                <a:latin typeface="Helvetica Neue"/>
              </a:rPr>
              <a:t>possible at the same time — and to keep them true in twenty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84366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 i="0">
                <a:solidFill>
                  <a:srgbClr val="E89A3C"/>
                </a:solidFill>
                <a:latin typeface="Helvetica Neue"/>
              </a:rPr>
              <a:t>Questions — and I am happy to show you the real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