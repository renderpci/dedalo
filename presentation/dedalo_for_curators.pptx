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Welcome, and thank you for the half hour you're giving us.</a:t>
            </a:r>
          </a:p>
          <a:p/>
          <a:p>
            <a:r>
              <a:t>Dédalo is a system for managing cultural heritage — collections, inventories,</a:t>
            </a:r>
          </a:p>
          <a:p>
            <a:r>
              <a:t>archives, oral testimony. Coins and amphorae, interviews and photographs,</a:t>
            </a:r>
          </a:p>
          <a:p>
            <a:r>
              <a:t>places and people.</a:t>
            </a:r>
          </a:p>
          <a:p/>
          <a:p>
            <a:r>
              <a:t>I promise you two things today. First: no code. Not one line. Everything I</a:t>
            </a:r>
          </a:p>
          <a:p>
            <a:r>
              <a:t>show will be about your work — cataloguing, researching, publishing — and not</a:t>
            </a:r>
          </a:p>
          <a:p>
            <a:r>
              <a:t>about servers. Second: by the end, you'll be able to explain what Dédalo is,</a:t>
            </a:r>
          </a:p>
          <a:p>
            <a:r>
              <a:t>and why it is different from the catalogue software you've met before, in</a:t>
            </a:r>
          </a:p>
          <a:p>
            <a:r>
              <a:t>about three sentences.</a:t>
            </a:r>
          </a:p>
          <a:p/>
          <a:p>
            <a:r>
              <a:t>The name is Dédalo — Daedalus, the craftsman. Keep that image in mind: not a</a:t>
            </a:r>
          </a:p>
          <a:p>
            <a:r>
              <a:t>box that stores things, but a workshop that shapes them.</a:t>
            </a:r>
          </a:p>
          <a:p/>
          <a:p>
            <a:r>
              <a:t>Let's begin with an uncomfortable question: why does the heritage field keep</a:t>
            </a:r>
          </a:p>
          <a:p>
            <a:r>
              <a:t>producing new software, when there is already so much of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for cultural heritage tends to fail in one of two ways, and most of</a:t>
            </a:r>
          </a:p>
          <a:p>
            <a:r>
              <a:t>us have been burned by both.</a:t>
            </a:r>
          </a:p>
          <a:p/>
          <a:p>
            <a:r>
              <a:t>The first failure is the pretty spreadsheet. It's wonderful on day one.</a:t>
            </a:r>
          </a:p>
          <a:p>
            <a:r>
              <a:t>Everyone adds columns differently, every volunteer types dates their own way.</a:t>
            </a:r>
          </a:p>
          <a:p>
            <a:r>
              <a:t>After three years nobody is sure which file is the real one, and the person</a:t>
            </a:r>
          </a:p>
          <a:p>
            <a:r>
              <a:t>who understands it has left the institution. Fast to start — impossible to</a:t>
            </a:r>
          </a:p>
          <a:p>
            <a:r>
              <a:t>keep coherent.</a:t>
            </a:r>
          </a:p>
          <a:p/>
          <a:p>
            <a:r>
              <a:t>The second failure is the rigid database. Someone who has never held an</a:t>
            </a:r>
          </a:p>
          <a:p>
            <a:r>
              <a:t>amphora designed its tables. It is well behaved, and completely inflexible:</a:t>
            </a:r>
          </a:p>
          <a:p>
            <a:r>
              <a:t>you need one extra field for a new project, and that small human request</a:t>
            </a:r>
          </a:p>
          <a:p>
            <a:r>
              <a:t>becomes a ticket, a developer, a budget, a release, a delay. A project to</a:t>
            </a:r>
          </a:p>
          <a:p>
            <a:r>
              <a:t>change something that should take a minute.</a:t>
            </a:r>
          </a:p>
          <a:p/>
          <a:p>
            <a:r>
              <a:t>Notice what both failures have in common: the shape of your catalogue is not</a:t>
            </a:r>
          </a:p>
          <a:p>
            <a:r>
              <a:t>in your hands. Either it's in nobody's hands, or it's in a programmer's</a:t>
            </a:r>
          </a:p>
          <a:p>
            <a:r>
              <a:t>hands. Hold that thought — because Dédalo's central idea is precisely to give</a:t>
            </a:r>
          </a:p>
          <a:p>
            <a:r>
              <a:t>that shape back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is Dédalo? Strip away everything else and it has exactly three jobs.</a:t>
            </a:r>
          </a:p>
          <a:p/>
          <a:p>
            <a:r>
              <a:t>One — produce good data. Not "data", good data: structured, consistent,</a:t>
            </a:r>
          </a:p>
          <a:p>
            <a:r>
              <a:t>linked to each other, written in every language your institution works in.</a:t>
            </a:r>
          </a:p>
          <a:p>
            <a:r>
              <a:t>This is the quiet, unglamorous heart of the whole project.</a:t>
            </a:r>
          </a:p>
          <a:p/>
          <a:p>
            <a:r>
              <a:t>Two — keep it for decades. A collection outlives spreadsheets, outlives</a:t>
            </a:r>
          </a:p>
          <a:p>
            <a:r>
              <a:t>staff, outlives software vendors. Dédalo keeps every version of every record</a:t>
            </a:r>
          </a:p>
          <a:p>
            <a:r>
              <a:t>with its author and its date, so the catalogue is still trustworthy — and</a:t>
            </a:r>
          </a:p>
          <a:p>
            <a:r>
              <a:t>still explainable — in thirty years.</a:t>
            </a:r>
          </a:p>
          <a:p/>
          <a:p>
            <a:r>
              <a:t>Three — publish what should be public. Cataloguing and publishing are two</a:t>
            </a:r>
          </a:p>
          <a:p>
            <a:r>
              <a:t>different acts, and Dédalo never confuses them. What goes out to the world is</a:t>
            </a:r>
          </a:p>
          <a:p>
            <a:r>
              <a:t>a deliberate decision, taken record by record.</a:t>
            </a:r>
          </a:p>
          <a:p/>
          <a:p>
            <a:r>
              <a:t>Notice what is NOT on this list: Dédalo is not a website builder, and it's</a:t>
            </a:r>
          </a:p>
          <a:p>
            <a:r>
              <a:t>not a generic content manager. Your website will talk to Dédalo — but</a:t>
            </a:r>
          </a:p>
          <a:p>
            <a:r>
              <a:t>Dédalo's job is the collection itself: its quality, its memory, its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shape of the whole thing, and the museum analogy is the project's</a:t>
            </a:r>
          </a:p>
          <a:p>
            <a:r>
              <a:t>own. Dédalo is two rooms.</a:t>
            </a:r>
          </a:p>
          <a:p/>
          <a:p>
            <a:r>
              <a:t>Behind, the workshop. Your team works there on your own network — you do not</a:t>
            </a:r>
          </a:p>
          <a:p>
            <a:r>
              <a:t>even need the internet to catalogue. It holds the catalogue itself: every</a:t>
            </a:r>
          </a:p>
          <a:p>
            <a:r>
              <a:t>record, every image, every version. This is the original, and the only</a:t>
            </a:r>
          </a:p>
          <a:p>
            <a:r>
              <a:t>original there is. It never faces the internet.</a:t>
            </a:r>
          </a:p>
          <a:p/>
          <a:p>
            <a:r>
              <a:t>In front, the gallery. That's your public website, partners, researchers —</a:t>
            </a:r>
          </a:p>
          <a:p>
            <a:r>
              <a:t>even AI assistants. What they see is a published copy: flattened, read-only,</a:t>
            </a:r>
          </a:p>
          <a:p>
            <a:r>
              <a:t>sitting on a different machine.</a:t>
            </a:r>
          </a:p>
          <a:p/>
          <a:p>
            <a:r>
              <a:t>Data flows one way: workshop to gallery. There is no route back in. The</a:t>
            </a:r>
          </a:p>
          <a:p>
            <a:r>
              <a:t>public door has no handle on the inside — it can hand things out, but it</a:t>
            </a:r>
          </a:p>
          <a:p>
            <a:r>
              <a:t>structurally cannot write anything, anywhere.</a:t>
            </a:r>
          </a:p>
          <a:p/>
          <a:p>
            <a:r>
              <a:t>This one design decision answers most of the scary questions. If the public</a:t>
            </a:r>
          </a:p>
          <a:p>
            <a:r>
              <a:t>site is attacked or goes down, cataloguing continues untouched. If your</a:t>
            </a:r>
          </a:p>
          <a:p>
            <a:r>
              <a:t>network is down, the website keeps serving. And nothing — nothing — is ever</a:t>
            </a:r>
          </a:p>
          <a:p>
            <a:r>
              <a:t>public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central idea. If you remember one thing from today, make it this one.</a:t>
            </a:r>
          </a:p>
          <a:p/>
          <a:p>
            <a:r>
              <a:t>In almost every system, the shape of the catalogue — which kinds of records</a:t>
            </a:r>
          </a:p>
          <a:p>
            <a:r>
              <a:t>exist, which fields they have, in what order, with which vocabularies —</a:t>
            </a:r>
          </a:p>
          <a:p>
            <a:r>
              <a:t>lives inside the program. Change the shape, and you change the program:</a:t>
            </a:r>
          </a:p>
          <a:p>
            <a:r>
              <a:t>developer, release, budget, delay.</a:t>
            </a:r>
          </a:p>
          <a:p/>
          <a:p>
            <a:r>
              <a:t>In Dédalo, the shape of the catalogue is itself data. It lives in something</a:t>
            </a:r>
          </a:p>
          <a:p>
            <a:r>
              <a:t>called the ontology — think of it as the catalogue's constitution — and you</a:t>
            </a:r>
          </a:p>
          <a:p>
            <a:r>
              <a:t>edit it inside Dédalo, like anything else. Adding a field, creating a whole</a:t>
            </a:r>
          </a:p>
          <a:p>
            <a:r>
              <a:t>new kind of record, making a text box into a controlled vocabulary,</a:t>
            </a:r>
          </a:p>
          <a:p>
            <a:r>
              <a:t>reordering a form: these become acts of documentation, not programming.</a:t>
            </a:r>
          </a:p>
          <a:p/>
          <a:p>
            <a:r>
              <a:t>Why does this matter to an institution? Because your descriptive model can</a:t>
            </a:r>
          </a:p>
          <a:p>
            <a:r>
              <a:t>follow your discipline instead of the software's assumptions — and it can</a:t>
            </a:r>
          </a:p>
          <a:p>
            <a:r>
              <a:t>evolve. A modest inventory can grow into a full scientific catalogue without</a:t>
            </a:r>
          </a:p>
          <a:p>
            <a:r>
              <a:t>rebuilding anything. A standard changes? You update the model yourself.</a:t>
            </a:r>
          </a:p>
          <a:p/>
          <a:p>
            <a:r>
              <a:t>One honest caveat: the power moves to whoever designs your model. The design</a:t>
            </a:r>
          </a:p>
          <a:p>
            <a:r>
              <a:t>deserves the same care as a cataloguing manual. Dédalo stops the software</a:t>
            </a:r>
          </a:p>
          <a:p>
            <a:r>
              <a:t>imposing a bad model on you — it can't stop you designing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stand in the workshop for a minute and look over a cataloguer's</a:t>
            </a:r>
          </a:p>
          <a:p>
            <a:r>
              <a:t>shoulder.</a:t>
            </a:r>
          </a:p>
          <a:p/>
          <a:p>
            <a:r>
              <a:t>This is a record — one coin. Above it, its section: the kind of record it is.</a:t>
            </a:r>
          </a:p>
          <a:p>
            <a:r>
              <a:t>Coins is a section. Oral testimonies is a section. People, places, excavation</a:t>
            </a:r>
          </a:p>
          <a:p>
            <a:r>
              <a:t>sites — sections. If you're an archivist, think "series"; if you've met</a:t>
            </a:r>
          </a:p>
          <a:p>
            <a:r>
              <a:t>databases, think "table", but a table that can be re-shaped by you.</a:t>
            </a:r>
          </a:p>
          <a:p/>
          <a:p>
            <a:r>
              <a:t>Inside the record are components — fields, but fields that understand their</a:t>
            </a:r>
          </a:p>
          <a:p>
            <a:r>
              <a:t>kind. The date component understands imperfect dates — "before 100 BC,</a:t>
            </a:r>
          </a:p>
          <a:p>
            <a:r>
              <a:t>probably". The geographic component understands points and areas. The media</a:t>
            </a:r>
          </a:p>
          <a:p>
            <a:r>
              <a:t>component knows a file has a master, derivatives and a thumbnail. The</a:t>
            </a:r>
          </a:p>
          <a:p>
            <a:r>
              <a:t>relation component knows its content is a pointer to another record, not a</a:t>
            </a:r>
          </a:p>
          <a:p>
            <a:r>
              <a:t>piece of text.</a:t>
            </a:r>
          </a:p>
          <a:p/>
          <a:p>
            <a:r>
              <a:t>You'll notice tabs at the top: CA, ES, EN — we'll come to languages shortly.</a:t>
            </a:r>
          </a:p>
          <a:p/>
          <a:p>
            <a:r>
              <a:t>And remember the last slide: every element of this form — which fields exist,</a:t>
            </a:r>
          </a:p>
          <a:p>
            <a:r>
              <a:t>their order, their vocabularies — was designed by the institution, not</a:t>
            </a:r>
          </a:p>
          <a:p>
            <a:r>
              <a:t>imposed by a programmer. This page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single biggest difference between a catalogue and a</a:t>
            </a:r>
          </a:p>
          <a:p>
            <a:r>
              <a:t>spreadsheet.</a:t>
            </a:r>
          </a:p>
          <a:p/>
          <a:p>
            <a:r>
              <a:t>When a record mentions a place in a spreadsheet, you type the string "Vall de</a:t>
            </a:r>
          </a:p>
          <a:p>
            <a:r>
              <a:t>Cabó". Nine hundred records, nine hundred copies of the name. One typo, one</a:t>
            </a:r>
          </a:p>
          <a:p>
            <a:r>
              <a:t>reform of the toponym, one clerical error — and you have nine hundred little</a:t>
            </a:r>
          </a:p>
          <a:p>
            <a:r>
              <a:t>problems.</a:t>
            </a:r>
          </a:p>
          <a:p/>
          <a:p>
            <a:r>
              <a:t>Dédalo never copies names. It stores a pointer. "Vall de Cabó" is not a</a:t>
            </a:r>
          </a:p>
          <a:p>
            <a:r>
              <a:t>string repeated everywhere — it is one record, with its own description,</a:t>
            </a:r>
          </a:p>
          <a:p>
            <a:r>
              <a:t>variants and history, and nine hundred records point at it.</a:t>
            </a:r>
          </a:p>
          <a:p/>
          <a:p>
            <a:r>
              <a:t>Three consequences, and they're the ones every documentalist has wanted</a:t>
            </a:r>
          </a:p>
          <a:p>
            <a:r>
              <a:t>forever. Correct once: fix the term, and every record is right, immediately,</a:t>
            </a:r>
          </a:p>
          <a:p>
            <a:r>
              <a:t>everywhere. Ask backwards: because the link is real, you can ask "which</a:t>
            </a:r>
          </a:p>
          <a:p>
            <a:r>
              <a:t>testimonies mention this person?" or "what came from this excavation?" —</a:t>
            </a:r>
          </a:p>
          <a:p>
            <a:r>
              <a:t>questions nobody planned in advance. No drift: two records cannot disagree</a:t>
            </a:r>
          </a:p>
          <a:p>
            <a:r>
              <a:t>about a spelling they don't hold.</a:t>
            </a:r>
          </a:p>
          <a:p/>
          <a:p>
            <a:r>
              <a:t>Links, not copies. It sounds small. It is the whole difference between a list</a:t>
            </a:r>
          </a:p>
          <a:p>
            <a:r>
              <a:t>and a network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need something to link to — and that brings us to vocabularies.</a:t>
            </a:r>
          </a:p>
          <a:p/>
          <a:p>
            <a:r>
              <a:t>A thesaurus in Dédalo is a tree of terms: places, personal names, subjects,</a:t>
            </a:r>
          </a:p>
          <a:p>
            <a:r>
              <a:t>materials, techniques, typologies. Controlled vocabulary means: when nine</a:t>
            </a:r>
          </a:p>
          <a:p>
            <a:r>
              <a:t>cataloguers write "the Iron Age", they all reach for the same node — not nine</a:t>
            </a:r>
          </a:p>
          <a:p>
            <a:r>
              <a:t>slightly different strings.</a:t>
            </a:r>
          </a:p>
          <a:p/>
          <a:p>
            <a:r>
              <a:t>The important part is subtle: the terms in the tree are ordinary records.</a:t>
            </a:r>
          </a:p>
          <a:p>
            <a:r>
              <a:t>Remember the previous slide — a pointer, not a copy? The term record itself</a:t>
            </a:r>
          </a:p>
          <a:p>
            <a:r>
              <a:t>can be described, dated, translated, cited. Your toponymic thesaurus entry for</a:t>
            </a:r>
          </a:p>
          <a:p>
            <a:r>
              <a:t>a valley can carry its coordinates, its alternative names through history,</a:t>
            </a:r>
          </a:p>
          <a:p>
            <a:r>
              <a:t>its translations. It is documented as carefully as any museum object,</a:t>
            </a:r>
          </a:p>
          <a:p>
            <a:r>
              <a:t>because in Dédalo it is one.</a:t>
            </a:r>
          </a:p>
          <a:p/>
          <a:p>
            <a:r>
              <a:t>And because vocabularies are yours — remember, the shape of the catalogue is</a:t>
            </a:r>
          </a:p>
          <a:p>
            <a:r>
              <a:t>data — when a new controlled vocabulary appears in your discipline, or a</a:t>
            </a:r>
          </a:p>
          <a:p>
            <a:r>
              <a:t>national aggregator imposes one, adopting it is a documentation task you</a:t>
            </a:r>
          </a:p>
          <a:p>
            <a:r>
              <a:t>perform, not a feature request you file.</a:t>
            </a:r>
          </a:p>
          <a:p/>
          <a:p>
            <a:r>
              <a:t>Words that mean something, agreed once, used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Multilingual is a word institutions use loosely, so let's be precise. In a</a:t>
            </a:r>
          </a:p>
          <a:p>
            <a:r>
              <a:t>heritage system, two different things get translated, and confusing them</a:t>
            </a:r>
          </a:p>
          <a:p>
            <a:r>
              <a:t>causes endless trouble.</a:t>
            </a:r>
          </a:p>
          <a:p/>
          <a:p>
            <a:r>
              <a:t>First, the data. A title, a description, an abstract can exist in as many</a:t>
            </a:r>
          </a:p>
          <a:p>
            <a:r>
              <a:t>languages as your institution works in — each version stored separately, on</a:t>
            </a:r>
          </a:p>
          <a:p>
            <a:r>
              <a:t>the same record. The four lines you see here are one field, one record, four</a:t>
            </a:r>
          </a:p>
          <a:p>
            <a:r>
              <a:t>languages. A researcher reads in English; a volunteer enters in Catalan; both</a:t>
            </a:r>
          </a:p>
          <a:p>
            <a:r>
              <a:t>see the same object.</a:t>
            </a:r>
          </a:p>
          <a:p/>
          <a:p>
            <a:r>
              <a:t>Second, the interface — the buttons, menus and field labels your staff see.</a:t>
            </a:r>
          </a:p>
          <a:p>
            <a:r>
              <a:t>That translates too, independently. A translation workflow can run over your</a:t>
            </a:r>
          </a:p>
          <a:p>
            <a:r>
              <a:t>data without ever touching the program.</a:t>
            </a:r>
          </a:p>
          <a:p/>
          <a:p>
            <a:r>
              <a:t>And note what deliberately does NOT translate: the inventory number, a</a:t>
            </a:r>
          </a:p>
          <a:p>
            <a:r>
              <a:t>coordinate, a year. Those are the same in every language, and Dédalo knows</a:t>
            </a:r>
          </a:p>
          <a:p>
            <a:r>
              <a:t>the difference — one more consequence of fields that understand their kind.</a:t>
            </a:r>
          </a:p>
          <a:p/>
          <a:p>
            <a:r>
              <a:t>For heritage data in particular — small languages, cross-border research,</a:t>
            </a:r>
          </a:p>
          <a:p>
            <a:r>
              <a:t>diaspora audiences — this isn't a checkbox feature. It's how a collection</a:t>
            </a:r>
          </a:p>
          <a:p>
            <a:r>
              <a:t>speaks to everyone it belongs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cataloguer has lived the moment: someone changed a description, and</a:t>
            </a:r>
          </a:p>
          <a:p>
            <a:r>
              <a:t>nobody knows what it said before, or why.</a:t>
            </a:r>
          </a:p>
          <a:p/>
          <a:p>
            <a:r>
              <a:t>In Dédalo, nothing is silently lost. Every change to a record is kept — what</a:t>
            </a:r>
          </a:p>
          <a:p>
            <a:r>
              <a:t>it was, who made the change, and when. The tool is called the time machine,</a:t>
            </a:r>
          </a:p>
          <a:p>
            <a:r>
              <a:t>and it does exactly what it says: you open a record and read its biography,</a:t>
            </a:r>
          </a:p>
          <a:p>
            <a:r>
              <a:t>version by version, and you can restore any earlier state.</a:t>
            </a:r>
          </a:p>
          <a:p/>
          <a:p>
            <a:r>
              <a:t>For a scientific catalogue this is not a comfort feature. Think what it</a:t>
            </a:r>
          </a:p>
          <a:p>
            <a:r>
              <a:t>actually guarantees. An attribution is defensible — you can show the evidence</a:t>
            </a:r>
          </a:p>
          <a:p>
            <a:r>
              <a:t>as it stood on the day you made the call. A correction is traceable — you can</a:t>
            </a:r>
          </a:p>
          <a:p>
            <a:r>
              <a:t>prove you fixed it, and when. A disputed record is reconstructible — even</a:t>
            </a:r>
          </a:p>
          <a:p>
            <a:r>
              <a:t>after a bad bulk change by a tired intern.</a:t>
            </a:r>
          </a:p>
          <a:p/>
          <a:p>
            <a:r>
              <a:t>And there's a human consequence that matters as much: you can hand a</a:t>
            </a:r>
          </a:p>
          <a:p>
            <a:r>
              <a:t>collection to a colleague — a successor, a partner institution — and they</a:t>
            </a:r>
          </a:p>
          <a:p>
            <a:r>
              <a:t>receive not just the answers but the reasoning that produced them.</a:t>
            </a:r>
          </a:p>
          <a:p/>
          <a:p>
            <a:r>
              <a:t>Twenty years of decisions, kept. That's what "for decades" meant on slide</a:t>
            </a:r>
          </a:p>
          <a:p>
            <a:r>
              <a:t>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Heritage collections are no longer just text. Photographs, recordings, film,</a:t>
            </a:r>
          </a:p>
          <a:p>
            <a:r>
              <a:t>scanned documents — and Dédalo treats files the way a conservation lab treats</a:t>
            </a:r>
          </a:p>
          <a:p>
            <a:r>
              <a:t>objects, not the way an email client treats attachments.</a:t>
            </a:r>
          </a:p>
          <a:p/>
          <a:p>
            <a:r>
              <a:t>When you upload something, it becomes the master — the conserved original.</a:t>
            </a:r>
          </a:p>
          <a:p>
            <a:r>
              <a:t>Dédalo never alters it. Ever. Everything the interface needs — smaller</a:t>
            </a:r>
          </a:p>
          <a:p>
            <a:r>
              <a:t>versions, thumbnails, formats for the web — are generated as derivatives</a:t>
            </a:r>
          </a:p>
          <a:p>
            <a:r>
              <a:t>beside it. The original stays exactly as you deposited it, thirty years from</a:t>
            </a:r>
          </a:p>
          <a:p>
            <a:r>
              <a:t>now.</a:t>
            </a:r>
          </a:p>
          <a:p/>
          <a:p>
            <a:r>
              <a:t>For oral history there's a second layer: recordings can be transcribed and</a:t>
            </a:r>
          </a:p>
          <a:p>
            <a:r>
              <a:t>indexed, so that a passage — with its timecode — becomes a citable unit. A</a:t>
            </a:r>
          </a:p>
          <a:p>
            <a:r>
              <a:t>researcher doesn't cite "interview 204, somewhere around minute twelve".</a:t>
            </a:r>
          </a:p>
          <a:p>
            <a:r>
              <a:t>They cite 12:34, and the system takes them there. Long texts work the same</a:t>
            </a:r>
          </a:p>
          <a:p>
            <a:r>
              <a:t>way with page references.</a:t>
            </a:r>
          </a:p>
          <a:p/>
          <a:p>
            <a:r>
              <a:t>And scale: large files are served directly by the web server rather than</a:t>
            </a:r>
          </a:p>
          <a:p>
            <a:r>
              <a:t>carried through the program, which is why a multi-gigabyte video is an</a:t>
            </a:r>
          </a:p>
          <a:p>
            <a:r>
              <a:t>ordinary record, not an incident.</a:t>
            </a:r>
          </a:p>
          <a:p/>
          <a:p>
            <a:r>
              <a:t>The principle is conservation: handle bytes like heritage.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built good data, in private, in the workshop. Now: the world. And the</a:t>
            </a:r>
          </a:p>
          <a:p>
            <a:r>
              <a:t>governing principle is that publication is a decision — never an accident.</a:t>
            </a:r>
          </a:p>
          <a:p/>
          <a:p>
            <a:r>
              <a:t>There is no "make the archive public" switch in Dédalo. You mark records for</a:t>
            </a:r>
          </a:p>
          <a:p>
            <a:r>
              <a:t>publication, one by one. A background job then copies the marked records out</a:t>
            </a:r>
          </a:p>
          <a:p>
            <a:r>
              <a:t>into the public database, and writes whatever file formats your partners and</a:t>
            </a:r>
          </a:p>
          <a:p>
            <a:r>
              <a:t>aggregators want — CSV, XML, RDF. The job runs on its own, and if it's</a:t>
            </a:r>
          </a:p>
          <a:p>
            <a:r>
              <a:t>interrupted, it resumes where it stopped.</a:t>
            </a:r>
          </a:p>
          <a:p/>
          <a:p>
            <a:r>
              <a:t>Three properties to notice. Per record: what you didn't mark simply doesn't</a:t>
            </a:r>
          </a:p>
          <a:p>
            <a:r>
              <a:t>exist out there. Reversible: un-mark a record and the next run removes it —</a:t>
            </a:r>
          </a:p>
          <a:p>
            <a:r>
              <a:t>taking something down is as easy as putting it up. And per field: a record can</a:t>
            </a:r>
          </a:p>
          <a:p>
            <a:r>
              <a:t>be public while parts of it aren't — the donor's name, a sensitive location,</a:t>
            </a:r>
          </a:p>
          <a:p>
            <a:r>
              <a:t>personal data of living people, testimony given under condition.</a:t>
            </a:r>
          </a:p>
          <a:p/>
          <a:p>
            <a:r>
              <a:t>Why does this design matter? Because it's what lets you catalogue frankly —</a:t>
            </a:r>
          </a:p>
          <a:p>
            <a:r>
              <a:t>with internal notes and unresolved attributions — and still publish</a:t>
            </a:r>
          </a:p>
          <a:p>
            <a:r>
              <a:t>confidently. A collection can be catalogued for years and published in one</a:t>
            </a:r>
          </a:p>
          <a:p>
            <a:r>
              <a:t>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You'll hear the word "API" in every technical conversation about Dédalo. An</a:t>
            </a:r>
          </a:p>
          <a:p>
            <a:r>
              <a:t>API is simply a door other programs may knock on. Dédalo has three, and this</a:t>
            </a:r>
          </a:p>
          <a:p>
            <a:r>
              <a:t>slide is really about trust.</a:t>
            </a:r>
          </a:p>
          <a:p/>
          <a:p>
            <a:r>
              <a:t>The staff door: your team, each with a personal account, doing everything</a:t>
            </a:r>
          </a:p>
          <a:p>
            <a:r>
              <a:t>their permissions allow. And permissions are granular — per section, per</a:t>
            </a:r>
          </a:p>
          <a:p>
            <a:r>
              <a:t>field. A volunteer can catalogue physical descriptions while never seeing the</a:t>
            </a:r>
          </a:p>
          <a:p>
            <a:r>
              <a:t>donor's name. That's not a policy you hope people follow; it's the shape of</a:t>
            </a:r>
          </a:p>
          <a:p>
            <a:r>
              <a:t>the system.</a:t>
            </a:r>
          </a:p>
          <a:p/>
          <a:p>
            <a:r>
              <a:t>The public door: your website and the world. It reads the published copy and</a:t>
            </a:r>
          </a:p>
          <a:p>
            <a:r>
              <a:t>it can only hand things out — the door has no handle on the inside.</a:t>
            </a:r>
          </a:p>
          <a:p/>
          <a:p>
            <a:r>
              <a:t>The AI door: an assistant can search and read — seeing exactly what its user</a:t>
            </a:r>
          </a:p>
          <a:p>
            <a:r>
              <a:t>sees, never more — and when it wants to change something, it writes a plan,</a:t>
            </a:r>
          </a:p>
          <a:p>
            <a:r>
              <a:t>op by op, that a human confirms. It cannot save on its own.</a:t>
            </a:r>
          </a:p>
          <a:p/>
          <a:p>
            <a:r>
              <a:t>Now the point directors care about: three doors, one lock. Whoever knocks —</a:t>
            </a:r>
          </a:p>
          <a:p>
            <a:r>
              <a:t>person, website, or assistant — passes the same checks, in the same order,</a:t>
            </a:r>
          </a:p>
          <a:p>
            <a:r>
              <a:t>against the same permissions. No back doors, no shortcuts. Opening the AI</a:t>
            </a:r>
          </a:p>
          <a:p>
            <a:r>
              <a:t>door does not open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AI pieces are built into Dédalo. Both are optional, both are off until</a:t>
            </a:r>
          </a:p>
          <a:p>
            <a:r>
              <a:t>your administrator says otherwise — and both are shaped for heritage work.</a:t>
            </a:r>
          </a:p>
          <a:p/>
          <a:p>
            <a:r>
              <a:t>First: semantic search — finding things by what they mean, not by exact</a:t>
            </a:r>
          </a:p>
          <a:p>
            <a:r>
              <a:t>words. A researcher asks about people displaced by a dam. Word search finds</a:t>
            </a:r>
          </a:p>
          <a:p>
            <a:r>
              <a:t>only records where someone wrote "dam". Dédalo also finds "when the water</a:t>
            </a:r>
          </a:p>
          <a:p>
            <a:r>
              <a:t>came and we had to leave", "el pantano", "they flooded our village" — because</a:t>
            </a:r>
          </a:p>
          <a:p>
            <a:r>
              <a:t>those mean almost the same thing. And every result cites the record it came</a:t>
            </a:r>
          </a:p>
          <a:p>
            <a:r>
              <a:t>from, so a researcher can open it and judge for themselves.</a:t>
            </a:r>
          </a:p>
          <a:p/>
          <a:p>
            <a:r>
              <a:t>Why does heritage need this more than most data? Because heritage data is</a:t>
            </a:r>
          </a:p>
          <a:p>
            <a:r>
              <a:t>multilingual, historical, dialectal, paraphrastic — testimony spoken in 1960s</a:t>
            </a:r>
          </a:p>
          <a:p>
            <a:r>
              <a:t>vocabulary simply doesn't contain the researcher's keywords.</a:t>
            </a:r>
          </a:p>
          <a:p/>
          <a:p>
            <a:r>
              <a:t>Note what it does not replace: precise field search stays — "every coin</a:t>
            </a:r>
          </a:p>
          <a:p>
            <a:r>
              <a:t>minted before 100 BC" is still exact. Meaning is an additional door.</a:t>
            </a:r>
          </a:p>
          <a:p/>
          <a:p>
            <a:r>
              <a:t>Second: AI assistants plug in through the door we saw last slide. It asks</a:t>
            </a:r>
          </a:p>
          <a:p>
            <a:r>
              <a:t>Dédalo — never the other way round. It sees only what its user sees. And it</a:t>
            </a:r>
          </a:p>
          <a:p>
            <a:r>
              <a:t>proposes; a person decides. Sensitive collections can be excluded entirely,</a:t>
            </a:r>
          </a:p>
          <a:p>
            <a:r>
              <a:t>or run against a local model so nothing leaves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should an institution trust this with its memory? Four reasons.</a:t>
            </a:r>
          </a:p>
          <a:p/>
          <a:p>
            <a:r>
              <a:t>It is in production, today, in the field — not a prototype looking for users.</a:t>
            </a:r>
          </a:p>
          <a:p>
            <a:r>
              <a:t>Numismatic catalogues in Spain, ethnological collections in València, oral</a:t>
            </a:r>
          </a:p>
          <a:p>
            <a:r>
              <a:t>memory archives from the Spanish Civil War, archaeological and exhumation</a:t>
            </a:r>
          </a:p>
          <a:p>
            <a:r>
              <a:t>records, research at the Freie Universität Berlin. Coins and testimony,</a:t>
            </a:r>
          </a:p>
          <a:p>
            <a:r>
              <a:t>twenty years of accumulated practice.</a:t>
            </a:r>
          </a:p>
          <a:p/>
          <a:p>
            <a:r>
              <a:t>It is free and open source. No licence fees, no vendor who can disappear or</a:t>
            </a:r>
          </a:p>
          <a:p>
            <a:r>
              <a:t>reprice you, no format held hostage. The code is there to be read — which,</a:t>
            </a:r>
          </a:p>
          <a:p>
            <a:r>
              <a:t>for an institution whose duty is preservation, is itself a preservation</a:t>
            </a:r>
          </a:p>
          <a:p>
            <a:r>
              <a:t>strategy.</a:t>
            </a:r>
          </a:p>
          <a:p/>
          <a:p>
            <a:r>
              <a:t>Your data is yours, in PostgreSQL, and it speaks the open languages of the</a:t>
            </a:r>
          </a:p>
          <a:p>
            <a:r>
              <a:t>field: RDF, Dublin Core, JSON-LD, CSV, XML. Aggregators and partners can</a:t>
            </a:r>
          </a:p>
          <a:p>
            <a:r>
              <a:t>harvest it through the public door on standard terms.</a:t>
            </a:r>
          </a:p>
          <a:p/>
          <a:p>
            <a:r>
              <a:t>And quality is measurable: Dédalo carries a score called Raspa — zero to ten,</a:t>
            </a:r>
          </a:p>
          <a:p>
            <a:r>
              <a:t>from "structured" up through "traceable, translatable, openly processable".</a:t>
            </a:r>
          </a:p>
          <a:p>
            <a:r>
              <a:t>Useful for arguing with evidence in a funding application.</a:t>
            </a:r>
          </a:p>
          <a:p/>
          <a:p>
            <a:r>
              <a:t>Last line: in 2026 the engine behind it was completely rebuilt — and not one</a:t>
            </a:r>
          </a:p>
          <a:p>
            <a:r>
              <a:t>record, not one byte of anyone's data was touched. That's the durability test</a:t>
            </a:r>
          </a:p>
          <a:p>
            <a:r>
              <a:t>it chose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close the way the project's own manual closes, with three things to</a:t>
            </a:r>
          </a:p>
          <a:p>
            <a:r>
              <a:t>remember.</a:t>
            </a:r>
          </a:p>
          <a:p/>
          <a:p>
            <a:r>
              <a:t>One: your catalogue is private, and it is the original. What the public sees</a:t>
            </a:r>
          </a:p>
          <a:p>
            <a:r>
              <a:t>is a copy, on a different machine, that can only be read. Nothing is public</a:t>
            </a:r>
          </a:p>
          <a:p>
            <a:r>
              <a:t>by accident.</a:t>
            </a:r>
          </a:p>
          <a:p/>
          <a:p>
            <a:r>
              <a:t>Two: the shape of the catalogue is yours. Fields, record types and</a:t>
            </a:r>
          </a:p>
          <a:p>
            <a:r>
              <a:t>vocabularies are data you edit inside Dédalo — not code somebody has to</a:t>
            </a:r>
          </a:p>
          <a:p>
            <a:r>
              <a:t>rewrite for you. Your model can follow your discipline, and evolve with it.</a:t>
            </a:r>
          </a:p>
          <a:p/>
          <a:p>
            <a:r>
              <a:t>Three: nothing is published or changed silently. Publication is a decision,</a:t>
            </a:r>
          </a:p>
          <a:p>
            <a:r>
              <a:t>record by record, and every edit ever made is kept, with its author and its</a:t>
            </a:r>
          </a:p>
          <a:p>
            <a:r>
              <a:t>date.</a:t>
            </a:r>
          </a:p>
          <a:p/>
          <a:p>
            <a:r>
              <a:t>That's the whole story, really: produce good data, keep it for decades,</a:t>
            </a:r>
          </a:p>
          <a:p>
            <a:r>
              <a:t>publish by decision — in a workshop whose shape belongs to the people who</a:t>
            </a:r>
          </a:p>
          <a:p>
            <a:r>
              <a:t>know the collection.</a:t>
            </a:r>
          </a:p>
          <a:p/>
          <a:p>
            <a:r>
              <a:t>Thank you. The demo is live and open — let's go look at a real catalogue and</a:t>
            </a:r>
          </a:p>
          <a:p>
            <a:r>
              <a:t>see the time machine and the thesaurus in action, and I'll take your</a:t>
            </a:r>
          </a:p>
          <a:p>
            <a:r>
              <a:t>questions while we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503920" y="1554480"/>
            <a:ext cx="1920240" cy="64008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418320" y="2194560"/>
            <a:ext cx="1005840" cy="109728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418320" y="3291840"/>
            <a:ext cx="1645920" cy="73152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778240" y="3291840"/>
            <a:ext cx="640080" cy="146304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78240" y="4754880"/>
            <a:ext cx="1463040" cy="73152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241280" y="4023360"/>
            <a:ext cx="822960" cy="146304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03920" y="1554480"/>
            <a:ext cx="914400" cy="173736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75320" y="1325880"/>
            <a:ext cx="457200" cy="457200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68712" y="2039112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25712" y="2999232"/>
            <a:ext cx="585216" cy="585216"/>
          </a:xfrm>
          <a:prstGeom prst="ellipse">
            <a:avLst/>
          </a:prstGeom>
          <a:solidFill>
            <a:srgbClr val="E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27080" y="388620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7072" y="4553712"/>
            <a:ext cx="402336" cy="40233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22407" y="5367528"/>
            <a:ext cx="237744" cy="237744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59" y="2468880"/>
            <a:ext cx="91440" cy="91440"/>
          </a:xfrm>
          <a:prstGeom prst="ellipse">
            <a:avLst/>
          </a:prstGeom>
          <a:solidFill>
            <a:srgbClr val="939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480" y="2834640"/>
            <a:ext cx="91440" cy="91440"/>
          </a:xfrm>
          <a:prstGeom prst="ellipse">
            <a:avLst/>
          </a:prstGeom>
          <a:solidFill>
            <a:srgbClr val="939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0" y="4480560"/>
            <a:ext cx="91440" cy="91440"/>
          </a:xfrm>
          <a:prstGeom prst="ellipse">
            <a:avLst/>
          </a:prstGeom>
          <a:solidFill>
            <a:srgbClr val="939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01400" y="4983480"/>
            <a:ext cx="91440" cy="91440"/>
          </a:xfrm>
          <a:prstGeom prst="ellipse">
            <a:avLst/>
          </a:prstGeom>
          <a:solidFill>
            <a:srgbClr val="939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4813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 spc="220">
                <a:solidFill>
                  <a:srgbClr val="E89A3C"/>
                </a:solidFill>
                <a:latin typeface="Helvetica Neue"/>
              </a:rPr>
              <a:t>CULTURAL HERITAGE · ORAL MEMORY · OPEN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1874519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 i="0">
                <a:solidFill>
                  <a:srgbClr val="FAF8F4"/>
                </a:solidFill>
                <a:latin typeface="Helvetica Neue"/>
              </a:rPr>
              <a:t>Dédalo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0" i="0">
                <a:solidFill>
                  <a:srgbClr val="939EAC"/>
                </a:solidFill>
                <a:latin typeface="Helvetica Neue"/>
              </a:rPr>
              <a:t>The living catalogue of your collection.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43400"/>
            <a:ext cx="2103120" cy="27432"/>
          </a:xfrm>
          <a:prstGeom prst="rect">
            <a:avLst/>
          </a:prstGeom>
          <a:solidFill>
            <a:srgbClr val="E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39EAC"/>
                </a:solidFill>
                <a:latin typeface="Helvetica Neue"/>
              </a:rPr>
              <a:t>A guided tour for curators, archivists and keepers of memory — about 30 minutes, no code.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5C6A7C"/>
                </a:solidFill>
                <a:latin typeface="Helvetica Neue"/>
              </a:rPr>
              <a:t>Dédalo · dedalo.dev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WHY ANOTHER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Software usually fails in one of two ways.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07492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130552"/>
            <a:ext cx="50292" cy="3008376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The pretty spreadsheet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420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fast to start — incoherent after three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3246120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892808" y="3246120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459736" y="3246120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 rot="540000">
            <a:off x="3026664" y="3246120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93592" y="3246120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325880" y="3849624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892808" y="3849624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026664" y="3849624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593592" y="3849624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325880" y="4453128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 rot="21180000">
            <a:off x="1892808" y="4453128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459736" y="4453128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026664" y="4453128"/>
            <a:ext cx="402336" cy="402336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593592" y="4453128"/>
            <a:ext cx="402336" cy="402336"/>
          </a:xfrm>
          <a:prstGeom prst="rect">
            <a:avLst/>
          </a:prstGeom>
          <a:noFill/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80360" y="4069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BE123C"/>
                </a:solidFill>
                <a:latin typeface="Helvetica Neue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874519"/>
            <a:ext cx="507492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291072" y="2130552"/>
            <a:ext cx="50292" cy="3008376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1214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The rigid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54203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designed by someone who never catalogued anything — adding a field is a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93992" y="3246120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60919" y="3246120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927848" y="3246120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94776" y="3246120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061704" y="3246120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793992" y="3849624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360919" y="3849624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927848" y="3849624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494776" y="3849624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061704" y="3849624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793992" y="4453128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360919" y="4453128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927848" y="4453128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494776" y="4453128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061704" y="4453128"/>
            <a:ext cx="402336" cy="402336"/>
          </a:xfrm>
          <a:prstGeom prst="rect">
            <a:avLst/>
          </a:prstGeom>
          <a:solidFill>
            <a:srgbClr val="E6E2DA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814816" y="3291840"/>
            <a:ext cx="402336" cy="402336"/>
          </a:xfrm>
          <a:prstGeom prst="ellipse">
            <a:avLst/>
          </a:prstGeom>
          <a:noFill/>
          <a:ln w="40640">
            <a:solidFill>
              <a:srgbClr val="1A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32520" y="3584448"/>
            <a:ext cx="566928" cy="475488"/>
          </a:xfrm>
          <a:prstGeom prst="roundRect">
            <a:avLst>
              <a:gd name="adj" fmla="val 22000"/>
            </a:avLst>
          </a:prstGeom>
          <a:solidFill>
            <a:srgbClr val="1A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C2622A"/>
                </a:solidFill>
                <a:latin typeface="Helvetica Neue"/>
              </a:rPr>
              <a:t>Dédalo was built to avoid both.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WHAT IS DÉDALO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It exists to do three things.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 spc="200">
                <a:solidFill>
                  <a:srgbClr val="939EAC"/>
                </a:solidFill>
                <a:latin typeface="Helvetica Neue"/>
              </a:rPr>
              <a:t>01</a:t>
            </a:r>
          </a:p>
        </p:txBody>
      </p:sp>
      <p:sp>
        <p:nvSpPr>
          <p:cNvPr id="5" name="Document 4"/>
          <p:cNvSpPr/>
          <p:nvPr/>
        </p:nvSpPr>
        <p:spPr>
          <a:xfrm>
            <a:off x="2016252" y="2400300"/>
            <a:ext cx="960120" cy="787298"/>
          </a:xfrm>
          <a:prstGeom prst="flowChartDocument">
            <a:avLst/>
          </a:prstGeom>
          <a:noFill/>
          <a:ln w="2413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Produce good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structured, linked, in every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4831" y="4983480"/>
            <a:ext cx="822960" cy="22860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2057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 spc="200">
                <a:solidFill>
                  <a:srgbClr val="939EAC"/>
                </a:solidFill>
                <a:latin typeface="Helvetica Neue"/>
              </a:rPr>
              <a:t>02</a:t>
            </a:r>
          </a:p>
        </p:txBody>
      </p:sp>
      <p:sp>
        <p:nvSpPr>
          <p:cNvPr id="10" name="Magnetic Disk 9"/>
          <p:cNvSpPr/>
          <p:nvPr/>
        </p:nvSpPr>
        <p:spPr>
          <a:xfrm>
            <a:off x="5664708" y="2400300"/>
            <a:ext cx="960120" cy="787298"/>
          </a:xfrm>
          <a:prstGeom prst="flowChartMagneticDisk">
            <a:avLst/>
          </a:prstGeom>
          <a:noFill/>
          <a:ln w="2413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36118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Keep it for decades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4343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every version, every author, every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4983480"/>
            <a:ext cx="822960" cy="228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2057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 spc="200">
                <a:solidFill>
                  <a:srgbClr val="939EAC"/>
                </a:solidFill>
                <a:latin typeface="Helvetica Neue"/>
              </a:rPr>
              <a:t>03</a:t>
            </a:r>
          </a:p>
        </p:txBody>
      </p:sp>
      <p:sp>
        <p:nvSpPr>
          <p:cNvPr id="15" name="Cloud 14"/>
          <p:cNvSpPr/>
          <p:nvPr/>
        </p:nvSpPr>
        <p:spPr>
          <a:xfrm>
            <a:off x="9313164" y="2400300"/>
            <a:ext cx="960120" cy="787298"/>
          </a:xfrm>
          <a:prstGeom prst="cloud">
            <a:avLst/>
          </a:prstGeom>
          <a:noFill/>
          <a:ln w="2413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36118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Publish what should be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4343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decision — never an accident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1744" y="4983480"/>
            <a:ext cx="822960" cy="228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5623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Not a website builder. Not a generic CMS. A tool to produce good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and keep it trustworthy for thirty years.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SHAPE OF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One system. Two rooms.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846320" cy="3429000"/>
          </a:xfrm>
          <a:prstGeom prst="roundRect">
            <a:avLst>
              <a:gd name="adj" fmla="val 4500"/>
            </a:avLst>
          </a:prstGeom>
          <a:solidFill>
            <a:srgbClr val="1E2836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THE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FAF8F4"/>
                </a:solidFill>
                <a:latin typeface="Helvetica Neue"/>
              </a:rPr>
              <a:t>where the collection is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939EAC"/>
                </a:solidFill>
                <a:latin typeface="Helvetica Neue"/>
              </a:rPr>
              <a:t>Your team, each with a personal account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939EAC"/>
                </a:solidFill>
                <a:latin typeface="Helvetica Neue"/>
              </a:rPr>
              <a:t>Your own network — not the internet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939EAC"/>
                </a:solidFill>
                <a:latin typeface="Helvetica Neue"/>
              </a:rPr>
              <a:t>The original. The only original there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9672" y="1874519"/>
            <a:ext cx="4846320" cy="342900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39712" y="21488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0E7490"/>
                </a:solidFill>
                <a:latin typeface="Helvetica Neue"/>
              </a:rPr>
              <a:t>THE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25146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where the public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324612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 published copy — read-only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Your website, partners, researchers, AI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Shares nothing with the workshop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3621024"/>
            <a:ext cx="621792" cy="36576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6309360" y="3529584"/>
            <a:ext cx="219456" cy="219456"/>
          </a:xfrm>
          <a:prstGeom prst="triangl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2622A"/>
                </a:solidFill>
                <a:latin typeface="Helvetica Neue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58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66E7A"/>
                </a:solidFill>
                <a:latin typeface="Helvetica Neue"/>
              </a:rPr>
              <a:t>one way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50" b="0" i="1">
                <a:solidFill>
                  <a:srgbClr val="1A1C22"/>
                </a:solidFill>
                <a:latin typeface="Helvetica Neue"/>
              </a:rPr>
              <a:t>The door to the gallery has no handle on the inside.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IDEA THAT DRIVES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The shape of your catalogue is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983480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130552"/>
            <a:ext cx="50292" cy="2871216"/>
          </a:xfrm>
          <a:prstGeom prst="roundRect">
            <a:avLst>
              <a:gd name="adj" fmla="val 50000"/>
            </a:avLst>
          </a:prstGeom>
          <a:solidFill>
            <a:srgbClr val="939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C22"/>
                </a:solidFill>
                <a:latin typeface="Helvetica Neue"/>
              </a:rPr>
              <a:t>Everywhere else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606040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1A1C22"/>
                </a:solidFill>
                <a:latin typeface="Helvetica Neue"/>
              </a:rPr>
              <a:t>“We need one new field”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077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13639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666E7A"/>
                </a:solidFill>
                <a:latin typeface="Helvetica Neue"/>
              </a:rPr>
              <a:t>a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381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666744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666E7A"/>
                </a:solidFill>
                <a:latin typeface="Helvetica Neue"/>
              </a:rPr>
              <a:t>a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684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197096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666E7A"/>
                </a:solidFill>
                <a:latin typeface="Helvetica Neue"/>
              </a:rPr>
              <a:t>a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4988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72744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666E7A"/>
                </a:solidFill>
                <a:latin typeface="Helvetica Neue"/>
              </a:rPr>
              <a:t>a delay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4983480" cy="338328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00800" y="2130552"/>
            <a:ext cx="50292" cy="287121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C22"/>
                </a:solidFill>
                <a:latin typeface="Helvetica Neue"/>
              </a:rPr>
              <a:t>In Dédalo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69748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0">
                <a:solidFill>
                  <a:srgbClr val="1A1C22"/>
                </a:solidFill>
                <a:latin typeface="Helvetica Neue"/>
              </a:rPr>
              <a:t>“We need one new field”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27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C2622A"/>
                </a:solidFill>
                <a:latin typeface="Helvetica Neue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47472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0">
                <a:solidFill>
                  <a:srgbClr val="1A1C22"/>
                </a:solidFill>
                <a:latin typeface="Helvetica Neue"/>
              </a:rPr>
              <a:t>you edit the ontology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0448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C2622A"/>
                </a:solidFill>
                <a:latin typeface="Helvetica Neue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5196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 Neue"/>
              </a:rPr>
              <a:t>the form changes —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Adding a field is an act of documentation — not of programming.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A DAY IN THE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Every object gets a complete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920240"/>
            <a:ext cx="640080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60120" y="1920240"/>
            <a:ext cx="6400800" cy="512064"/>
          </a:xfrm>
          <a:prstGeom prst="roundRect">
            <a:avLst>
              <a:gd name="adj" fmla="val 9000"/>
            </a:avLst>
          </a:prstGeom>
          <a:solidFill>
            <a:srgbClr val="1A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20299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AF8F4"/>
                </a:solidFill>
                <a:latin typeface="Helvetica Neue"/>
              </a:rPr>
              <a:t>Coins · inv. 1234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0299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E89A3C"/>
                </a:solidFill>
                <a:latin typeface="Helvetica Neue"/>
              </a:rPr>
              <a:t>CA  ES  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7432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A1C22"/>
                </a:solidFill>
                <a:latin typeface="Helvetica Neue"/>
              </a:rPr>
              <a:t>Title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807208"/>
            <a:ext cx="3931920" cy="201168"/>
          </a:xfrm>
          <a:prstGeom prst="roundRect">
            <a:avLst>
              <a:gd name="adj" fmla="val 11000"/>
            </a:avLst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234440" y="331012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A1C22"/>
                </a:solidFill>
                <a:latin typeface="Helvetica Neue"/>
              </a:rPr>
              <a:t>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374136"/>
            <a:ext cx="1737360" cy="201168"/>
          </a:xfrm>
          <a:prstGeom prst="roundRect">
            <a:avLst>
              <a:gd name="adj" fmla="val 11000"/>
            </a:avLst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234440" y="3877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A1C22"/>
                </a:solidFill>
                <a:latin typeface="Helvetica Neue"/>
              </a:rPr>
              <a:t>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7705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E7490"/>
                </a:solidFill>
                <a:latin typeface="Helvetica Neue"/>
              </a:rPr>
              <a:t>bronze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7705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E7490"/>
                </a:solidFill>
                <a:latin typeface="Helvetica Neue"/>
              </a:rPr>
              <a:t>silver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4988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A1C22"/>
                </a:solidFill>
                <a:latin typeface="Helvetica Neue"/>
              </a:rPr>
              <a:t>Photography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242816"/>
            <a:ext cx="1051560" cy="841248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2926080" y="4370832"/>
            <a:ext cx="146304" cy="146304"/>
          </a:xfrm>
          <a:prstGeom prst="ellipse">
            <a:avLst/>
          </a:prstGeom>
          <a:solidFill>
            <a:srgbClr val="E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3072384" y="4617720"/>
            <a:ext cx="566928" cy="420624"/>
          </a:xfrm>
          <a:prstGeom prst="triangl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53492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A1C22"/>
                </a:solidFill>
                <a:latin typeface="Helvetica Neue"/>
              </a:rPr>
              <a:t>Found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3492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6D28D9"/>
                </a:solidFill>
                <a:latin typeface="Helvetica Neue"/>
              </a:rPr>
              <a:t>→  Tossal Rodó ·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920240"/>
            <a:ext cx="352044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818120" y="2176272"/>
            <a:ext cx="50292" cy="658368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2194560"/>
            <a:ext cx="295351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Sections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2567241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kinds of record: Coins, Testimonies, Places, People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246120"/>
            <a:ext cx="352044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818120" y="3502152"/>
            <a:ext cx="50292" cy="65836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3520439"/>
            <a:ext cx="295351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3893121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fields that know what they are — dates, places, media, links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572000"/>
            <a:ext cx="352044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818120" y="4828032"/>
            <a:ext cx="50292" cy="65836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4846320"/>
            <a:ext cx="295351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One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9016" y="5219001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the object, its images, its history — all on one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666E7A"/>
                </a:solidFill>
                <a:latin typeface="Helvetica Neue"/>
              </a:rPr>
              <a:t>The form is the one your institution designed — not the one software imposed.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LINKS, NOT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Correct once. Right everywhere.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3566160" y="2880360"/>
            <a:ext cx="2011680" cy="82296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66160" y="3703320"/>
            <a:ext cx="2377440" cy="64008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3703320"/>
            <a:ext cx="1325880" cy="155448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514600" y="3703320"/>
            <a:ext cx="1051560" cy="164592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417320" y="3703320"/>
            <a:ext cx="2148840" cy="73152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417320" y="2880360"/>
            <a:ext cx="2148840" cy="82296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514600" y="2057400"/>
            <a:ext cx="1051560" cy="164592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566160" y="2057400"/>
            <a:ext cx="1097280" cy="1645920"/>
          </a:xfrm>
          <a:prstGeom prst="line">
            <a:avLst/>
          </a:prstGeom>
          <a:ln w="1397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31536" y="273405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797296" y="419709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745736" y="511149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368296" y="520293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271016" y="428853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71016" y="2734056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368296" y="1911095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517136" y="1911095"/>
            <a:ext cx="292608" cy="292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39E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2857500" y="2994660"/>
            <a:ext cx="1417320" cy="1417320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Vall de Cabó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617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C2622A"/>
                </a:solidFill>
                <a:latin typeface="Helvetica Neue"/>
              </a:rPr>
              <a:t>one term · one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8646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900 records point at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1920240"/>
            <a:ext cx="43434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995160" y="21762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2194560"/>
            <a:ext cx="3776472" cy="325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Fix it 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6" y="2574544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change the spelling, the date, the name — every record that points here is right, immediately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3291840"/>
            <a:ext cx="43434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995160" y="35478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6" y="3566160"/>
            <a:ext cx="3776472" cy="325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Ask backwards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6" y="3946143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“which testimonies mention this person?” “what came from this excavation?” — questions you never planned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4663440"/>
            <a:ext cx="43434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995160" y="49194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6056" y="4937759"/>
            <a:ext cx="3776472" cy="325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No 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6" y="5317744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two records can't hold two spellings of the same place, because they hold no spelling at 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A1C22"/>
                </a:solidFill>
                <a:latin typeface="Helvetica Neue"/>
              </a:rPr>
              <a:t>This is what keeps a catalogue usable after twenty years.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CONTROLLED VOCABULARIES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Words that mean something.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965960" y="2395728"/>
            <a:ext cx="1783079" cy="1444752"/>
          </a:xfrm>
          <a:prstGeom prst="line">
            <a:avLst/>
          </a:prstGeom>
          <a:ln w="17780">
            <a:solidFill>
              <a:srgbClr val="A9CC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749039" y="2395728"/>
            <a:ext cx="0" cy="1444752"/>
          </a:xfrm>
          <a:prstGeom prst="line">
            <a:avLst/>
          </a:prstGeom>
          <a:ln w="17780">
            <a:solidFill>
              <a:srgbClr val="A9CC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49039" y="2395728"/>
            <a:ext cx="1783081" cy="1444752"/>
          </a:xfrm>
          <a:prstGeom prst="line">
            <a:avLst/>
          </a:prstGeom>
          <a:ln w="17780">
            <a:solidFill>
              <a:srgbClr val="A9CC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063240" y="3840480"/>
            <a:ext cx="685799" cy="1188720"/>
          </a:xfrm>
          <a:prstGeom prst="line">
            <a:avLst/>
          </a:prstGeom>
          <a:ln w="17780">
            <a:solidFill>
              <a:srgbClr val="A9CC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49039" y="3840480"/>
            <a:ext cx="685801" cy="1188720"/>
          </a:xfrm>
          <a:prstGeom prst="line">
            <a:avLst/>
          </a:prstGeom>
          <a:ln w="17780">
            <a:solidFill>
              <a:srgbClr val="A9CC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177539" y="1824228"/>
            <a:ext cx="1143000" cy="11430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Materials</a:t>
            </a:r>
          </a:p>
        </p:txBody>
      </p:sp>
      <p:sp>
        <p:nvSpPr>
          <p:cNvPr id="10" name="Oval 9"/>
          <p:cNvSpPr/>
          <p:nvPr/>
        </p:nvSpPr>
        <p:spPr>
          <a:xfrm>
            <a:off x="1463039" y="3337560"/>
            <a:ext cx="1005840" cy="100584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Stone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3337560"/>
            <a:ext cx="1005840" cy="100584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Metal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3337560"/>
            <a:ext cx="1005840" cy="100584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Ceramic</a:t>
            </a:r>
          </a:p>
        </p:txBody>
      </p:sp>
      <p:sp>
        <p:nvSpPr>
          <p:cNvPr id="13" name="Oval 12"/>
          <p:cNvSpPr/>
          <p:nvPr/>
        </p:nvSpPr>
        <p:spPr>
          <a:xfrm>
            <a:off x="2628900" y="4594860"/>
            <a:ext cx="868680" cy="8686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C22"/>
                </a:solidFill>
                <a:latin typeface="Helvetica Neue"/>
              </a:rPr>
              <a:t>Bronze</a:t>
            </a:r>
          </a:p>
        </p:txBody>
      </p:sp>
      <p:sp>
        <p:nvSpPr>
          <p:cNvPr id="14" name="Oval 13"/>
          <p:cNvSpPr/>
          <p:nvPr/>
        </p:nvSpPr>
        <p:spPr>
          <a:xfrm>
            <a:off x="4000500" y="4594860"/>
            <a:ext cx="868680" cy="8686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C22"/>
                </a:solidFill>
                <a:latin typeface="Helvetica Neue"/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9612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a thesaurus: a tree of terms, one branch per domain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920240"/>
            <a:ext cx="434340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995160" y="2176272"/>
            <a:ext cx="50292" cy="30540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1488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A term is a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97480"/>
            <a:ext cx="3794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It can be described, dated, related, translated and cited — exactly like an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9476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50">
                <a:solidFill>
                  <a:srgbClr val="939EAC"/>
                </a:solidFill>
                <a:latin typeface="Helvetica Neue"/>
              </a:rPr>
              <a:t>VOCABULARIES YOU CAN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1148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490"/>
                </a:solidFill>
                <a:latin typeface="Helvetica Neue"/>
              </a:rPr>
              <a:t>places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41148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490"/>
                </a:solidFill>
                <a:latin typeface="Helvetica Neue"/>
              </a:rPr>
              <a:t>people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5720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490"/>
                </a:solidFill>
                <a:latin typeface="Helvetica Neue"/>
              </a:rPr>
              <a:t>subjects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5720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490"/>
                </a:solidFill>
                <a:latin typeface="Helvetica Neue"/>
              </a:rPr>
              <a:t>materials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5720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490"/>
                </a:solidFill>
                <a:latin typeface="Helvetica Neue"/>
              </a:rPr>
              <a:t>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A1C22"/>
                </a:solidFill>
                <a:latin typeface="Helvetica Neue"/>
              </a:rPr>
              <a:t>One agreed language — for the whole institution, for the whole web of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MANY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Every value, in every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920240"/>
            <a:ext cx="5760720" cy="3611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214884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666E7A"/>
                </a:solidFill>
                <a:latin typeface="Helvetica Neue"/>
              </a:rPr>
              <a:t>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214884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666E7A"/>
                </a:solidFill>
                <a:latin typeface="Helvetica Neue"/>
              </a:rPr>
              <a:t>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214884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666E7A"/>
                </a:solidFill>
                <a:latin typeface="Helvetica Neue"/>
              </a:rPr>
              <a:t>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128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· the record's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50">
                <a:solidFill>
                  <a:srgbClr val="939EAC"/>
                </a:solidFill>
                <a:latin typeface="Helvetica Neue"/>
              </a:rPr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54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2622A"/>
                </a:solidFill>
                <a:latin typeface="Helvetica Neue"/>
              </a:rPr>
              <a:t>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546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Àmfora grega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2622A"/>
                </a:solidFill>
                <a:latin typeface="Helvetica Neue"/>
              </a:rPr>
              <a:t>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7216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Ánfora griega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885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2622A"/>
                </a:solidFill>
                <a:latin typeface="Helvetica Neue"/>
              </a:rPr>
              <a:t>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8853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Greek amphora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55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C2622A"/>
                </a:solidFill>
                <a:latin typeface="Helvetica Neue"/>
              </a:rPr>
              <a:t>FR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8554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Amphore grecque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920240"/>
            <a:ext cx="420624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086600" y="2157984"/>
            <a:ext cx="50292" cy="1124712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The data translates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060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each language stored separately, side by side, on the same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794760"/>
            <a:ext cx="420624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86600" y="4032504"/>
            <a:ext cx="50292" cy="12618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The interface translates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480560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every person works in their own language — buttons, menus, 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666E7A"/>
                </a:solidFill>
                <a:latin typeface="Helvetica Neue"/>
              </a:rPr>
              <a:t>…and some values never translate: the inventory number, the coordinates, the year.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TIME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Nothing is silently lost.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4754880" cy="2514600"/>
          </a:xfrm>
          <a:prstGeom prst="roundRect">
            <a:avLst>
              <a:gd name="adj" fmla="val 4500"/>
            </a:avLst>
          </a:prstGeom>
          <a:solidFill>
            <a:srgbClr val="EFECE6"/>
          </a:solidFill>
          <a:ln w="1270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691640" y="22585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666E7A"/>
                </a:solidFill>
                <a:latin typeface="Helvetica Neue"/>
              </a:rPr>
              <a:t>v2 · 2019 · J. Ferrer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606040"/>
            <a:ext cx="475488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103120" y="27614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666E7A"/>
                </a:solidFill>
                <a:latin typeface="Helvetica Neue"/>
              </a:rPr>
              <a:t>v7 · 2023 · M. Puig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108960"/>
            <a:ext cx="475488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32644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C2622A"/>
                </a:solidFill>
                <a:latin typeface="Helvetica Neue"/>
              </a:rPr>
              <a:t>v12 · today · A. Serra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393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A1C22"/>
                </a:solidFill>
                <a:latin typeface="Helvetica Neue"/>
              </a:rPr>
              <a:t>Coins · inv. 1234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069080"/>
            <a:ext cx="3931920" cy="182880"/>
          </a:xfrm>
          <a:prstGeom prst="roundRect">
            <a:avLst>
              <a:gd name="adj" fmla="val 10000"/>
            </a:avLst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514600" y="4434840"/>
            <a:ext cx="2926080" cy="182880"/>
          </a:xfrm>
          <a:prstGeom prst="roundRect">
            <a:avLst>
              <a:gd name="adj" fmla="val 10000"/>
            </a:avLst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514600" y="4800600"/>
            <a:ext cx="3474720" cy="182880"/>
          </a:xfrm>
          <a:prstGeom prst="roundRect">
            <a:avLst>
              <a:gd name="adj" fmla="val 10000"/>
            </a:avLst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514600" y="513892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BF1E7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2622A"/>
                </a:solidFill>
                <a:latin typeface="Helvetica Neue"/>
              </a:rPr>
              <a:t>restore any earlier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38862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452360" y="21762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3256" y="2194560"/>
            <a:ext cx="33192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Every edit is kept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2567241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what it was, who changed it, when — all of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291840"/>
            <a:ext cx="38862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452360" y="35478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3256" y="3566160"/>
            <a:ext cx="33192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History you can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3256" y="3938841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open any record and follow its whole life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663440"/>
            <a:ext cx="3886200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452360" y="49194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63256" y="4937759"/>
            <a:ext cx="33192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Recover anything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5310441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a wrong edit, a bad bulk change, a deletion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1A1C22"/>
                </a:solidFill>
                <a:latin typeface="Helvetica Neue"/>
              </a:rPr>
              <a:t>This is what makes an attribution defensible and a correction traceable.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FILES, HANDLED LIKE HERITAGE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The master is never touched.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286000"/>
            <a:ext cx="2468880" cy="1554480"/>
          </a:xfrm>
          <a:prstGeom prst="roundRect">
            <a:avLst>
              <a:gd name="adj" fmla="val 4500"/>
            </a:avLst>
          </a:prstGeom>
          <a:solidFill>
            <a:srgbClr val="1E2836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80">
                <a:solidFill>
                  <a:srgbClr val="E89A3C"/>
                </a:solidFill>
                <a:latin typeface="Helvetica Neue"/>
              </a:rPr>
              <a:t>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AF8F4"/>
                </a:solidFill>
                <a:latin typeface="Helvetica Neue"/>
              </a:rPr>
              <a:t>entrevista_0204.mov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46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939EAC"/>
                </a:solidFill>
                <a:latin typeface="Helvetica Neue"/>
              </a:rPr>
              <a:t>never altered — ever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429000" y="2359152"/>
            <a:ext cx="777240" cy="704088"/>
          </a:xfrm>
          <a:prstGeom prst="line">
            <a:avLst/>
          </a:prstGeom>
          <a:ln w="1524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214884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Derivatives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3063240"/>
            <a:ext cx="777240" cy="27432"/>
          </a:xfrm>
          <a:prstGeom prst="line">
            <a:avLst/>
          </a:prstGeom>
          <a:ln w="1524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06240" y="288036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Thumbnails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3063240"/>
            <a:ext cx="777240" cy="758952"/>
          </a:xfrm>
          <a:prstGeom prst="line">
            <a:avLst/>
          </a:prstGeom>
          <a:ln w="15240">
            <a:solidFill>
              <a:srgbClr val="C9C2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36118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1C22"/>
                </a:solidFill>
                <a:latin typeface="Helvetica Neue"/>
              </a:rPr>
              <a:t>Transcript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202936"/>
            <a:ext cx="54864" cy="109728"/>
          </a:xfrm>
          <a:prstGeom prst="roundRect">
            <a:avLst>
              <a:gd name="adj" fmla="val 6000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43584" y="5131244"/>
            <a:ext cx="54864" cy="253111"/>
          </a:xfrm>
          <a:prstGeom prst="roundRect">
            <a:avLst>
              <a:gd name="adj" fmla="val 13840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435607" y="5080697"/>
            <a:ext cx="54864" cy="354204"/>
          </a:xfrm>
          <a:prstGeom prst="roundRect">
            <a:avLst>
              <a:gd name="adj" fmla="val 19368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627631" y="5066205"/>
            <a:ext cx="54864" cy="383188"/>
          </a:xfrm>
          <a:prstGeom prst="roundRect">
            <a:avLst>
              <a:gd name="adj" fmla="val 20952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819655" y="5092042"/>
            <a:ext cx="54864" cy="331514"/>
          </a:xfrm>
          <a:prstGeom prst="roundRect">
            <a:avLst>
              <a:gd name="adj" fmla="val 18127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011679" y="5150587"/>
            <a:ext cx="54864" cy="214425"/>
          </a:xfrm>
          <a:prstGeom prst="roundRect">
            <a:avLst>
              <a:gd name="adj" fmla="val 11724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203703" y="5181299"/>
            <a:ext cx="54864" cy="153000"/>
          </a:xfrm>
          <a:prstGeom prst="roundRect">
            <a:avLst>
              <a:gd name="adj" fmla="val 8366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395727" y="5113696"/>
            <a:ext cx="54864" cy="288207"/>
          </a:xfrm>
          <a:prstGeom prst="roundRect">
            <a:avLst>
              <a:gd name="adj" fmla="val 15759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587751" y="5072414"/>
            <a:ext cx="54864" cy="370771"/>
          </a:xfrm>
          <a:prstGeom prst="roundRect">
            <a:avLst>
              <a:gd name="adj" fmla="val 20274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779775" y="5069629"/>
            <a:ext cx="54864" cy="376340"/>
          </a:xfrm>
          <a:prstGeom prst="roundRect">
            <a:avLst>
              <a:gd name="adj" fmla="val 20578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971799" y="5106164"/>
            <a:ext cx="54864" cy="303271"/>
          </a:xfrm>
          <a:prstGeom prst="roundRect">
            <a:avLst>
              <a:gd name="adj" fmla="val 16583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163823" y="5171241"/>
            <a:ext cx="54864" cy="173117"/>
          </a:xfrm>
          <a:prstGeom prst="roundRect">
            <a:avLst>
              <a:gd name="adj" fmla="val 9466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355847" y="5160204"/>
            <a:ext cx="54864" cy="195190"/>
          </a:xfrm>
          <a:prstGeom prst="roundRect">
            <a:avLst>
              <a:gd name="adj" fmla="val 10673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547871" y="5098382"/>
            <a:ext cx="54864" cy="318834"/>
          </a:xfrm>
          <a:prstGeom prst="roundRect">
            <a:avLst>
              <a:gd name="adj" fmla="val 17434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739896" y="5067398"/>
            <a:ext cx="54864" cy="380802"/>
          </a:xfrm>
          <a:prstGeom prst="roundRect">
            <a:avLst>
              <a:gd name="adj" fmla="val 20822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931920" y="5076391"/>
            <a:ext cx="54864" cy="362816"/>
          </a:xfrm>
          <a:prstGeom prst="roundRect">
            <a:avLst>
              <a:gd name="adj" fmla="val 19839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123944" y="5122708"/>
            <a:ext cx="54864" cy="270182"/>
          </a:xfrm>
          <a:prstGeom prst="roundRect">
            <a:avLst>
              <a:gd name="adj" fmla="val 14773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315968" y="5192689"/>
            <a:ext cx="54864" cy="130221"/>
          </a:xfrm>
          <a:prstGeom prst="roundRect">
            <a:avLst>
              <a:gd name="adj" fmla="val 7120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507992" y="5140180"/>
            <a:ext cx="54864" cy="235239"/>
          </a:xfrm>
          <a:prstGeom prst="roundRect">
            <a:avLst>
              <a:gd name="adj" fmla="val 12863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700016" y="5085687"/>
            <a:ext cx="54864" cy="344224"/>
          </a:xfrm>
          <a:prstGeom prst="roundRect">
            <a:avLst>
              <a:gd name="adj" fmla="val 18822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892040" y="5065777"/>
            <a:ext cx="54864" cy="384045"/>
          </a:xfrm>
          <a:prstGeom prst="roundRect">
            <a:avLst>
              <a:gd name="adj" fmla="val 20999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084064" y="5086322"/>
            <a:ext cx="54864" cy="342955"/>
          </a:xfrm>
          <a:prstGeom prst="roundRect">
            <a:avLst>
              <a:gd name="adj" fmla="val 18753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276088" y="5141262"/>
            <a:ext cx="54864" cy="233075"/>
          </a:xfrm>
          <a:prstGeom prst="roundRect">
            <a:avLst>
              <a:gd name="adj" fmla="val 12744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468112" y="5191478"/>
            <a:ext cx="54864" cy="132642"/>
          </a:xfrm>
          <a:prstGeom prst="roundRect">
            <a:avLst>
              <a:gd name="adj" fmla="val 7252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660136" y="5121727"/>
            <a:ext cx="54864" cy="272145"/>
          </a:xfrm>
          <a:prstGeom prst="roundRect">
            <a:avLst>
              <a:gd name="adj" fmla="val 14881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852159" y="5075928"/>
            <a:ext cx="54864" cy="363743"/>
          </a:xfrm>
          <a:prstGeom prst="roundRect">
            <a:avLst>
              <a:gd name="adj" fmla="val 19889"/>
            </a:avLst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108960" y="5532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C2622A"/>
                </a:solidFill>
                <a:latin typeface="Helvetica Neue"/>
              </a:rPr>
              <a:t>12:34 — a citable passage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2148840"/>
            <a:ext cx="461772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720840" y="2404872"/>
            <a:ext cx="50292" cy="90525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31736" y="2423160"/>
            <a:ext cx="4050791" cy="3324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Big files are ordinary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2810446"/>
            <a:ext cx="405079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a 32 GB video is a normal day — served directly, not pushed through the program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20840" y="3749039"/>
            <a:ext cx="461772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6720840" y="4005072"/>
            <a:ext cx="50292" cy="90525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31736" y="4023359"/>
            <a:ext cx="4050791" cy="3324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Passages are citable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1736" y="4410646"/>
            <a:ext cx="405079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a line of testimony, with its timecode; a paragraph, with its page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Publication is a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10312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BF1E7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C2622A"/>
                </a:solidFill>
                <a:latin typeface="Helvetica Neue"/>
              </a:rPr>
              <a:t>✓  Coin · 1234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670048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BF1E7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C2622A"/>
                </a:solidFill>
                <a:latin typeface="Helvetica Neue"/>
              </a:rPr>
              <a:t>✓  Hoard · La Cova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236976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BF1E7"/>
          </a:solidFill>
          <a:ln w="1270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C2622A"/>
                </a:solidFill>
                <a:latin typeface="Helvetica Neue"/>
              </a:rPr>
              <a:t>✓  Site · Tossal Rodó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803904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>
                <a:solidFill>
                  <a:srgbClr val="939EAC"/>
                </a:solidFill>
                <a:latin typeface="Helvetica Neue"/>
              </a:rPr>
              <a:t>—   Donor file · XX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370831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>
                <a:solidFill>
                  <a:srgbClr val="939EAC"/>
                </a:solidFill>
                <a:latin typeface="Helvetica Neue"/>
              </a:rPr>
              <a:t>—   Unpublished · 88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507638"/>
            <a:ext cx="576072" cy="25603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3968496" y="3447288"/>
            <a:ext cx="146304" cy="146304"/>
          </a:xfrm>
          <a:prstGeom prst="triangl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3154680"/>
            <a:ext cx="1737360" cy="7315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9502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666E7A"/>
                </a:solidFill>
                <a:latin typeface="Helvetica Neue"/>
              </a:rPr>
              <a:t>automatic · resumable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507638"/>
            <a:ext cx="576072" cy="25603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6574536" y="3447288"/>
            <a:ext cx="146304" cy="146304"/>
          </a:xfrm>
          <a:prstGeom prst="triangl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12280" y="3017520"/>
            <a:ext cx="2377440" cy="100584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12280" y="3200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50">
                <a:solidFill>
                  <a:srgbClr val="0E7490"/>
                </a:solidFill>
                <a:latin typeface="Helvetica Neue"/>
              </a:rPr>
              <a:t>PUBLIC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66E7A"/>
                </a:solidFill>
                <a:latin typeface="Helvetica Neue"/>
              </a:rPr>
              <a:t>generated · read-only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3507638"/>
            <a:ext cx="576072" cy="25603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820656" y="3447288"/>
            <a:ext cx="146304" cy="146304"/>
          </a:xfrm>
          <a:prstGeom prst="triangl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246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A1C22"/>
                </a:solidFill>
                <a:latin typeface="Helvetica Neue"/>
              </a:rPr>
              <a:t>your website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A1C22"/>
                </a:solidFill>
                <a:latin typeface="Helvetica Neue"/>
              </a:rPr>
              <a:t>open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3383280" cy="123444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22960" y="51480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166359"/>
            <a:ext cx="281635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Record by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539041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no switch ever makes a whole collection public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4892040"/>
            <a:ext cx="3383280" cy="123444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4471416" y="51480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5166359"/>
            <a:ext cx="281635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Reversible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5539041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un-mark a record; the next run removes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892040"/>
            <a:ext cx="3383280" cy="1234440"/>
          </a:xfrm>
          <a:prstGeom prst="roundRect">
            <a:avLst>
              <a:gd name="adj" fmla="val 4500"/>
            </a:avLst>
          </a:prstGeom>
          <a:solidFill>
            <a:srgbClr val="F4EFFD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119872" y="5148072"/>
            <a:ext cx="50292" cy="7223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5166359"/>
            <a:ext cx="281635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Field by field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5539041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public record, private donor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THREE DOORS INTO THE SAME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Three doors. One lock.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212848" y="2093976"/>
            <a:ext cx="603504" cy="603504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 i="0" spc="200">
                <a:solidFill>
                  <a:srgbClr val="C2622A"/>
                </a:solidFill>
                <a:latin typeface="Helvetica Neue"/>
              </a:rPr>
              <a:t>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Your team, signed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everything their permissions allow — set field by field, section by section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4709160"/>
            <a:ext cx="91440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BE123C"/>
                </a:solidFill>
                <a:latin typeface="Helvetica Neue"/>
              </a:rPr>
              <a:t>never lets anyone in without an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874519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861304" y="2093976"/>
            <a:ext cx="603504" cy="60350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2788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 i="0" spc="200">
                <a:solidFill>
                  <a:srgbClr val="0E7490"/>
                </a:solidFill>
                <a:latin typeface="Helvetica Neue"/>
              </a:rP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The world reads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7033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records, images, search — passages with their page or timecode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05856" y="4709160"/>
            <a:ext cx="91440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4846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BE123C"/>
                </a:solidFill>
                <a:latin typeface="Helvetica Neue"/>
              </a:rPr>
              <a:t>never writes anything, anywhere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874519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4C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509760" y="2093976"/>
            <a:ext cx="603504" cy="6035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788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 i="0" spc="200">
                <a:solidFill>
                  <a:srgbClr val="6D28D9"/>
                </a:solidFill>
                <a:latin typeface="Helvetica Neue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An assistant, on a leash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7033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sees exactly what its user sees; when it wants to change something, it writes a plan for a human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54312" y="4709160"/>
            <a:ext cx="91440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4846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BE123C"/>
                </a:solidFill>
                <a:latin typeface="Helvetica Neue"/>
              </a:rPr>
              <a:t>never saves an edit nobody confirmed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1A1C22"/>
                </a:solidFill>
                <a:latin typeface="Helvetica Neue"/>
              </a:rPr>
              <a:t>Whoever knocks — a person, a website, an assistant — the same checks run, in the same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READY FOR AI — ON YOUR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Find it by meaning.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965960"/>
            <a:ext cx="5577840" cy="914400"/>
          </a:xfrm>
          <a:prstGeom prst="roundRect">
            <a:avLst>
              <a:gd name="adj" fmla="val 4500"/>
            </a:avLst>
          </a:prstGeom>
          <a:solidFill>
            <a:srgbClr val="FDEFF2"/>
          </a:solidFill>
          <a:ln w="127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212140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1">
                <a:solidFill>
                  <a:srgbClr val="1A1C22"/>
                </a:solidFill>
                <a:latin typeface="Helvetica Neue"/>
              </a:rPr>
              <a:t>“Testimonies about people who had to leave their homes when the dam was built.”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154680"/>
            <a:ext cx="557784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C22"/>
                </a:solidFill>
                <a:latin typeface="Helvetica Neue"/>
              </a:rPr>
              <a:t>“…when the water came and we had to leave…”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33192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0E7490"/>
                </a:solidFill>
                <a:latin typeface="Helvetica Neue"/>
              </a:rPr>
              <a:t>Testimony 204 · 07:12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904488"/>
            <a:ext cx="557784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399592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C22"/>
                </a:solidFill>
                <a:latin typeface="Helvetica Neue"/>
              </a:rPr>
              <a:t>“…el pantano nos dejó sin casa…”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0690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0E7490"/>
                </a:solidFill>
                <a:latin typeface="Helvetica Neue"/>
              </a:rPr>
              <a:t>Testimony 118 · 22:41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654296"/>
            <a:ext cx="557784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7457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C22"/>
                </a:solidFill>
                <a:latin typeface="Helvetica Neue"/>
              </a:rPr>
              <a:t>“…they flooded our village, that's how we lost it…”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81888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0E7490"/>
                </a:solidFill>
                <a:latin typeface="Helvetica Neue"/>
              </a:rPr>
              <a:t>Testimony 231 · 03:55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864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666E7A"/>
                </a:solidFill>
                <a:latin typeface="Helvetica Neue"/>
              </a:rPr>
              <a:t>a word search finds none of these — a dam is not a pantano is not “the water”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965960"/>
            <a:ext cx="434340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995160" y="2221991"/>
            <a:ext cx="50292" cy="658368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2240279"/>
            <a:ext cx="37764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Asks, never 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612961"/>
            <a:ext cx="37764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your data is not handed to a model to keep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3264408"/>
            <a:ext cx="434340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95160" y="3520439"/>
            <a:ext cx="50292" cy="65836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3538727"/>
            <a:ext cx="37764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Sees only what you 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3911409"/>
            <a:ext cx="37764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an assistant works at its user's permission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562856"/>
            <a:ext cx="434340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995160" y="4818888"/>
            <a:ext cx="50292" cy="65836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4837176"/>
            <a:ext cx="3776472" cy="3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Proposes, you 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6056" y="5209857"/>
            <a:ext cx="37764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it cannot save an edit; a person confirms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89788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BE123C"/>
                </a:solidFill>
                <a:latin typeface="Helvetica Neue"/>
              </a:rPr>
              <a:t>Restricted collections can be locked inside the building — even from AI.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WHY TRUST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Twenty years in the field. Open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80">
                <a:solidFill>
                  <a:srgbClr val="939EAC"/>
                </a:solidFill>
                <a:latin typeface="Helvetica Neue"/>
              </a:rPr>
              <a:t>IN PRODUCTION 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Moneda Ibérica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228600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MUPREVA · València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4436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Memorial Democràtic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94436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Freie Universität Berlin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Museu de la Paraula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3602736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Lur Azpian · Navarra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61104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Mujer y Memoria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4261104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1A1C22"/>
                </a:solidFill>
                <a:latin typeface="Helvetica Neue"/>
              </a:rPr>
              <a:t>MUVAET · Etnologia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666E7A"/>
                </a:solidFill>
                <a:latin typeface="Helvetica Neue"/>
              </a:rPr>
              <a:t>coins · archaeology · oral memory · ethnology · exhumations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2212848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5803D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1671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Free and open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56032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no licence, no vendor, no lock-in — the code is yours to read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3419856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5803D"/>
                </a:solidFill>
                <a:latin typeface="Helvetica Neu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37413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Your data, in the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76732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PostgreSQL; exports to RDF, Dublin Core, JSON-LD, CSV, XML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4626864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5803D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58114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1A1C22"/>
                </a:solidFill>
                <a:latin typeface="Helvetica Neue"/>
              </a:rPr>
              <a:t>Quality you can 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974336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“Raspa” — a 0-to-10 data-quality score for your catalogue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The engine was rebuilt in 2026. The data was never touched.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692640" y="1097280"/>
            <a:ext cx="1188720" cy="73152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10149840" y="1828800"/>
            <a:ext cx="731520" cy="100584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149840" y="2834640"/>
            <a:ext cx="1188720" cy="731520"/>
          </a:xfrm>
          <a:prstGeom prst="line">
            <a:avLst/>
          </a:prstGeom>
          <a:ln w="15240">
            <a:solidFill>
              <a:srgbClr val="394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555480" y="960120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75620" y="1623060"/>
            <a:ext cx="411480" cy="411480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40112" y="2724912"/>
            <a:ext cx="219456" cy="219456"/>
          </a:xfrm>
          <a:prstGeom prst="ellipse">
            <a:avLst/>
          </a:prstGeom>
          <a:solidFill>
            <a:srgbClr val="E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01400" y="342900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 i="0">
                <a:solidFill>
                  <a:srgbClr val="FAF8F4"/>
                </a:solidFill>
                <a:latin typeface="Helvetica Neue"/>
              </a:rPr>
              <a:t>Memory, kept alive.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2103120" cy="27432"/>
          </a:xfrm>
          <a:prstGeom prst="rect">
            <a:avLst/>
          </a:prstGeom>
          <a:solidFill>
            <a:srgbClr val="E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IF YOU REMEMBER THREE THINGS: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3419856"/>
            <a:ext cx="310896" cy="310896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AF8F4"/>
                </a:solidFill>
                <a:latin typeface="Helvetica Neue"/>
              </a:rPr>
              <a:t>Your catalogue is private, and it is the original.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3986784"/>
            <a:ext cx="310896" cy="310896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959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AF8F4"/>
                </a:solidFill>
                <a:latin typeface="Helvetica Neue"/>
              </a:rPr>
              <a:t>Its shape is yours: fields, records and vocabularies are data you edit.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" y="4553712"/>
            <a:ext cx="310896" cy="310896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6285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AF8F4"/>
                </a:solidFill>
                <a:latin typeface="Helvetica Neue"/>
              </a:rPr>
              <a:t>Nothing happens silently — every edit is kept, every record published by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89A3C"/>
                </a:solidFill>
                <a:latin typeface="Helvetica Neue"/>
              </a:rPr>
              <a:t>dedalo.dev   ·   demo.dedalo.dev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Questions — and a live look at a real catalogue.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91072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5C6A7C"/>
                </a:solidFill>
                <a:latin typeface="Helvetica Neue"/>
              </a:rPr>
              <a:t>Dédalo · dedalo.dev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